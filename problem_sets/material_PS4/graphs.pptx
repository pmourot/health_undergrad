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3" r:id="rId13"/>
    <p:sldId id="269" r:id="rId14"/>
    <p:sldId id="272" r:id="rId15"/>
    <p:sldId id="270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2" r:id="rId24"/>
    <p:sldId id="283" r:id="rId25"/>
    <p:sldId id="284" r:id="rId26"/>
    <p:sldId id="28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FBDBB-B8AF-4E55-8938-E2AA1FABD6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E3D8A7-68F0-4DDD-848A-FF0777F78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98213-160A-47BA-A573-67A07A4AA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7B24A-8432-4196-B0DE-A8AA55F21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01CB0-8584-4E3E-97CE-21BB6D7C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45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CE7F-D7F8-47AC-847E-C9BCB8706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77874-CE68-4B83-8A30-DE0809AC0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D07A0-A4EF-4DAE-9F54-3FB3C27E7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94092-E973-47EA-AC91-6E97CB21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EFC70-C732-4589-BD60-8922764F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5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178CE-B593-42EC-BB62-04D2403A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E3149-DDCD-48A6-B703-9D7905082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A6528-169D-4CDC-8FF1-8B5BDBC4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946AA-FC05-4A4C-A8B4-08C8B51F4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F28B1-6A64-4BA3-BD35-674D6A184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25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EAA6-5B4C-4B2A-997A-3C228014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5460F-FCB1-418A-A6A6-43CF24A8A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63994-29AB-4599-B84A-5B7B5BC03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52338-1F24-4750-9CC9-83B76E2AA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04E96-AE8C-4F2A-8988-CD4191B81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9F31B-1E16-4FFE-9414-971181CE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66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F36A-A13B-4EC2-BE41-2E4ED84C4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33578-9520-4E9E-B0B7-582780439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A66C0-37E5-46EE-8300-4C97761002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ED876-F8F9-4A6D-852A-AE3984EE7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6829F5-CFEF-46D9-8002-75BDD81633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EE8177-8A1B-4057-BFD7-38D38602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037FD3-64DC-4B29-A178-4F5412AD5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E764E4-CA6F-4D1D-9D6A-6D9777122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26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AAC2-5295-435C-A20D-4865F275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9660D-8370-4E6F-9A41-385AF3D59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9C210C-41A1-4C1A-A302-C028FB39B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2398E-C78A-417F-A661-D857B0D6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05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A09F98-25FF-430F-B715-8881F5CA0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9AC8F8-42C4-4540-BB9A-49CEADEAE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DC5A7-7E4B-4782-B6E1-9EAF44AA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1960-45C2-46F7-B49C-41F7DA98E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BFB4C-31C5-476C-8407-C573708CBE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2B5C3-B9F4-4E34-AA25-3FB6CD73E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47989-BD87-468F-A765-60A572F5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6AED4-BC81-4247-AEC2-BC56DBE6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774E5-42BA-4BD7-B5A3-CD8F8511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93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DDA6C-D40D-4CD5-B19A-1929D2C08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BF71FA-649E-49BE-9350-9D2F36469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F1FADB-7213-441B-926E-C96851597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5BDD8-D5B8-4BCD-8C16-297BD7A3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F4EC0-96AE-4135-9CF3-48589899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70BED-789B-4981-8CC4-C017F0D5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2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181A-A324-4073-80AD-682A7686E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3F2F8-EEC8-4EFD-A604-9BAD5A164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6281C-A56C-4D6F-80EF-D2E97C8F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D28FD-E537-4BF3-A519-5A996F23E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40A72-6E8F-4F70-9AFF-98CA0D69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1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8333AE-1104-4450-A3D1-09C782B7E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30F95D-3D8F-4575-997E-1D489D63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019FE-4DDD-43DF-B074-1BF40EF7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A84BD-C063-4C6F-8C60-4ACD46CE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96C9B-5E39-4A5F-B90D-285538D9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4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2DEE0-9413-4F1B-9737-2FF8D2DC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3131B-5310-4B63-845E-5769C216C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A0EC6-4C68-4166-A2AF-D44A0713B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52A2-DE50-4907-95E9-44B69E96B6CC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16758-A6F6-4CEF-A98E-3B2A646BA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5D119-2521-4CAC-A2CA-0E59141FB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AB7BF-34AF-4B12-9038-46B13010A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2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066D6-6A57-4D53-8D0A-1C366785CD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7A7B1-315C-46E5-8745-B98F80C857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11120" y="2453640"/>
            <a:ext cx="4704080" cy="3137337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EC54E3-F05E-41C2-BFF1-4B0E41249F4A}"/>
              </a:ext>
            </a:extLst>
          </p:cNvPr>
          <p:cNvCxnSpPr>
            <a:cxnSpLocks/>
          </p:cNvCxnSpPr>
          <p:nvPr/>
        </p:nvCxnSpPr>
        <p:spPr>
          <a:xfrm>
            <a:off x="2621280" y="2453639"/>
            <a:ext cx="6583680" cy="287020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08056" cy="378968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21280" y="1574801"/>
            <a:ext cx="2336800" cy="41655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5907488" y="4889896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505961" y="471812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BB6771-EB4B-4C8C-AABA-ABF11B2BB7EB}"/>
              </a:ext>
            </a:extLst>
          </p:cNvPr>
          <p:cNvSpPr txBox="1"/>
          <p:nvPr/>
        </p:nvSpPr>
        <p:spPr>
          <a:xfrm>
            <a:off x="8717280" y="489445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7142479" y="5884444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17,500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717041" y="22792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15,300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53640" y="245363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3449319" y="2183342"/>
            <a:ext cx="1" cy="353180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36520" y="2186822"/>
            <a:ext cx="812800" cy="1882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2181860" y="1916098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282950" y="586201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388360" y="2951709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</a:t>
            </a:r>
            <a:endParaRPr lang="en-US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E004E5-1374-4155-A395-3ACB1A6DB997}"/>
              </a:ext>
            </a:extLst>
          </p:cNvPr>
          <p:cNvCxnSpPr>
            <a:cxnSpLocks/>
          </p:cNvCxnSpPr>
          <p:nvPr/>
        </p:nvCxnSpPr>
        <p:spPr>
          <a:xfrm flipH="1">
            <a:off x="2453640" y="2180105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3449320" y="575236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4EF1AEA-14C7-F4E8-B352-7FA0CB7FB554}"/>
              </a:ext>
            </a:extLst>
          </p:cNvPr>
          <p:cNvCxnSpPr>
            <a:cxnSpLocks/>
          </p:cNvCxnSpPr>
          <p:nvPr/>
        </p:nvCxnSpPr>
        <p:spPr>
          <a:xfrm>
            <a:off x="2590800" y="5562734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C57306-834B-BE49-2313-91EEFF2E660D}"/>
              </a:ext>
            </a:extLst>
          </p:cNvPr>
          <p:cNvCxnSpPr>
            <a:cxnSpLocks/>
          </p:cNvCxnSpPr>
          <p:nvPr/>
        </p:nvCxnSpPr>
        <p:spPr>
          <a:xfrm>
            <a:off x="7309016" y="5346797"/>
            <a:ext cx="0" cy="40556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C00A5D-4E5C-0263-D1A3-FA7223E6A1BE}"/>
              </a:ext>
            </a:extLst>
          </p:cNvPr>
          <p:cNvCxnSpPr>
            <a:cxnSpLocks/>
          </p:cNvCxnSpPr>
          <p:nvPr/>
        </p:nvCxnSpPr>
        <p:spPr>
          <a:xfrm flipH="1">
            <a:off x="2418080" y="5564721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AEDD34-B38F-FCC4-2E71-1D644834D7AC}"/>
              </a:ext>
            </a:extLst>
          </p:cNvPr>
          <p:cNvSpPr txBox="1"/>
          <p:nvPr/>
        </p:nvSpPr>
        <p:spPr>
          <a:xfrm>
            <a:off x="1981200" y="5376592"/>
            <a:ext cx="50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en-US" sz="16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63FBEDE-8052-2E48-E7F6-52D0E6DC128E}"/>
              </a:ext>
            </a:extLst>
          </p:cNvPr>
          <p:cNvCxnSpPr>
            <a:cxnSpLocks/>
          </p:cNvCxnSpPr>
          <p:nvPr/>
        </p:nvCxnSpPr>
        <p:spPr>
          <a:xfrm>
            <a:off x="2584616" y="5287759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9739B5-9369-F079-64ED-0C0EC95E568A}"/>
              </a:ext>
            </a:extLst>
          </p:cNvPr>
          <p:cNvCxnSpPr>
            <a:cxnSpLocks/>
          </p:cNvCxnSpPr>
          <p:nvPr/>
        </p:nvCxnSpPr>
        <p:spPr>
          <a:xfrm flipH="1">
            <a:off x="2418080" y="528775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B11D2F0-0784-6A04-6F67-1569E98FCD79}"/>
              </a:ext>
            </a:extLst>
          </p:cNvPr>
          <p:cNvSpPr txBox="1"/>
          <p:nvPr/>
        </p:nvSpPr>
        <p:spPr>
          <a:xfrm>
            <a:off x="1978659" y="5118482"/>
            <a:ext cx="50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24355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11120" y="2453640"/>
            <a:ext cx="4697896" cy="3131543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EC54E3-F05E-41C2-BFF1-4B0E41249F4A}"/>
              </a:ext>
            </a:extLst>
          </p:cNvPr>
          <p:cNvCxnSpPr>
            <a:cxnSpLocks/>
          </p:cNvCxnSpPr>
          <p:nvPr/>
        </p:nvCxnSpPr>
        <p:spPr>
          <a:xfrm>
            <a:off x="2621280" y="2453639"/>
            <a:ext cx="6583680" cy="287020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08056" cy="377952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21280" y="1574801"/>
            <a:ext cx="2336800" cy="41655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BB6771-EB4B-4C8C-AABA-ABF11B2BB7EB}"/>
              </a:ext>
            </a:extLst>
          </p:cNvPr>
          <p:cNvSpPr txBox="1"/>
          <p:nvPr/>
        </p:nvSpPr>
        <p:spPr>
          <a:xfrm>
            <a:off x="8717280" y="489445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7081520" y="5875606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17,500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717041" y="22792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15,300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53640" y="245363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3449319" y="2205330"/>
            <a:ext cx="1" cy="350981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36520" y="2205330"/>
            <a:ext cx="812799" cy="870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2181860" y="1934606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282950" y="590233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388360" y="2951709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</a:t>
            </a:r>
            <a:endParaRPr lang="en-US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8E3158B-EFB5-47A3-9CD6-DB9BCB03110A}"/>
              </a:ext>
            </a:extLst>
          </p:cNvPr>
          <p:cNvSpPr/>
          <p:nvPr/>
        </p:nvSpPr>
        <p:spPr>
          <a:xfrm>
            <a:off x="7147560" y="1452880"/>
            <a:ext cx="508000" cy="250557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76CDEA-BA43-460D-AA81-8869BB480BA9}"/>
              </a:ext>
            </a:extLst>
          </p:cNvPr>
          <p:cNvSpPr txBox="1"/>
          <p:nvPr/>
        </p:nvSpPr>
        <p:spPr>
          <a:xfrm>
            <a:off x="7640320" y="137831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surplus</a:t>
            </a:r>
            <a:endParaRPr lang="en-US" sz="1600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D935DBB-B2BE-4D3A-98A4-1061D01342F6}"/>
              </a:ext>
            </a:extLst>
          </p:cNvPr>
          <p:cNvSpPr/>
          <p:nvPr/>
        </p:nvSpPr>
        <p:spPr>
          <a:xfrm>
            <a:off x="2598311" y="1556910"/>
            <a:ext cx="807828" cy="648420"/>
          </a:xfrm>
          <a:custGeom>
            <a:avLst/>
            <a:gdLst>
              <a:gd name="connsiteX0" fmla="*/ 0 w 822960"/>
              <a:gd name="connsiteY0" fmla="*/ 0 h 751840"/>
              <a:gd name="connsiteX1" fmla="*/ 0 w 822960"/>
              <a:gd name="connsiteY1" fmla="*/ 751840 h 751840"/>
              <a:gd name="connsiteX2" fmla="*/ 822960 w 822960"/>
              <a:gd name="connsiteY2" fmla="*/ 741680 h 751840"/>
              <a:gd name="connsiteX3" fmla="*/ 0 w 822960"/>
              <a:gd name="connsiteY3" fmla="*/ 0 h 75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960" h="751840">
                <a:moveTo>
                  <a:pt x="0" y="0"/>
                </a:moveTo>
                <a:lnTo>
                  <a:pt x="0" y="751840"/>
                </a:lnTo>
                <a:lnTo>
                  <a:pt x="822960" y="7416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0B470EF-ACEC-4ACC-A5DA-D1D64DEF218A}"/>
              </a:ext>
            </a:extLst>
          </p:cNvPr>
          <p:cNvCxnSpPr>
            <a:cxnSpLocks/>
          </p:cNvCxnSpPr>
          <p:nvPr/>
        </p:nvCxnSpPr>
        <p:spPr>
          <a:xfrm flipV="1">
            <a:off x="3449319" y="5752363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6702CF8-1EE5-4510-A741-6EE6FCA7F2F4}"/>
              </a:ext>
            </a:extLst>
          </p:cNvPr>
          <p:cNvCxnSpPr>
            <a:cxnSpLocks/>
          </p:cNvCxnSpPr>
          <p:nvPr/>
        </p:nvCxnSpPr>
        <p:spPr>
          <a:xfrm flipH="1">
            <a:off x="2453640" y="220533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DEC30D8-AFE4-4FDC-91FD-6110A2EF37C5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8D67BE-D09A-4FC1-81E4-B24599FB7FE0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176BFC4-E7C6-366B-67D1-60BBE2490D38}"/>
              </a:ext>
            </a:extLst>
          </p:cNvPr>
          <p:cNvCxnSpPr>
            <a:cxnSpLocks/>
          </p:cNvCxnSpPr>
          <p:nvPr/>
        </p:nvCxnSpPr>
        <p:spPr>
          <a:xfrm>
            <a:off x="2590800" y="5562734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C788B9E-F2FC-1F58-3E49-D4938C0F0E22}"/>
              </a:ext>
            </a:extLst>
          </p:cNvPr>
          <p:cNvCxnSpPr>
            <a:cxnSpLocks/>
          </p:cNvCxnSpPr>
          <p:nvPr/>
        </p:nvCxnSpPr>
        <p:spPr>
          <a:xfrm flipH="1">
            <a:off x="7309016" y="5590977"/>
            <a:ext cx="6184" cy="16138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F1120E-D32D-68E8-9938-DAA6BB110A13}"/>
              </a:ext>
            </a:extLst>
          </p:cNvPr>
          <p:cNvSpPr txBox="1"/>
          <p:nvPr/>
        </p:nvSpPr>
        <p:spPr>
          <a:xfrm>
            <a:off x="1981200" y="5376592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en-US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07E6AEA-201A-AA99-267B-ED2B47336A71}"/>
              </a:ext>
            </a:extLst>
          </p:cNvPr>
          <p:cNvCxnSpPr>
            <a:cxnSpLocks/>
          </p:cNvCxnSpPr>
          <p:nvPr/>
        </p:nvCxnSpPr>
        <p:spPr>
          <a:xfrm>
            <a:off x="7309016" y="5346797"/>
            <a:ext cx="0" cy="40556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E2D0FA-5EFF-BDD9-3CA7-647D6DCEAC3C}"/>
              </a:ext>
            </a:extLst>
          </p:cNvPr>
          <p:cNvCxnSpPr>
            <a:cxnSpLocks/>
          </p:cNvCxnSpPr>
          <p:nvPr/>
        </p:nvCxnSpPr>
        <p:spPr>
          <a:xfrm>
            <a:off x="2584616" y="5287759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BDBDBD-1C45-731E-6E84-CE813980F33F}"/>
              </a:ext>
            </a:extLst>
          </p:cNvPr>
          <p:cNvCxnSpPr>
            <a:cxnSpLocks/>
          </p:cNvCxnSpPr>
          <p:nvPr/>
        </p:nvCxnSpPr>
        <p:spPr>
          <a:xfrm flipH="1">
            <a:off x="2418080" y="528775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AD5EFF8-2915-5C60-4C50-00F68A51716D}"/>
              </a:ext>
            </a:extLst>
          </p:cNvPr>
          <p:cNvSpPr txBox="1"/>
          <p:nvPr/>
        </p:nvSpPr>
        <p:spPr>
          <a:xfrm>
            <a:off x="1978659" y="5118482"/>
            <a:ext cx="50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850</a:t>
            </a: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E53707-688F-389D-D25E-470E65BF12D1}"/>
              </a:ext>
            </a:extLst>
          </p:cNvPr>
          <p:cNvSpPr txBox="1"/>
          <p:nvPr/>
        </p:nvSpPr>
        <p:spPr>
          <a:xfrm>
            <a:off x="5907488" y="4889896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16E13D-4C3F-72F4-0371-23BAC1B8C852}"/>
              </a:ext>
            </a:extLst>
          </p:cNvPr>
          <p:cNvSpPr txBox="1"/>
          <p:nvPr/>
        </p:nvSpPr>
        <p:spPr>
          <a:xfrm>
            <a:off x="4505961" y="471812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</p:spTree>
    <p:extLst>
      <p:ext uri="{BB962C8B-B14F-4D97-AF65-F5344CB8AC3E}">
        <p14:creationId xmlns:p14="http://schemas.microsoft.com/office/powerpoint/2010/main" val="600259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11120" y="2453640"/>
            <a:ext cx="4697896" cy="3151212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EC54E3-F05E-41C2-BFF1-4B0E41249F4A}"/>
              </a:ext>
            </a:extLst>
          </p:cNvPr>
          <p:cNvCxnSpPr>
            <a:cxnSpLocks/>
          </p:cNvCxnSpPr>
          <p:nvPr/>
        </p:nvCxnSpPr>
        <p:spPr>
          <a:xfrm>
            <a:off x="2621280" y="2453639"/>
            <a:ext cx="6583680" cy="287020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08056" cy="3779520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21280" y="1574801"/>
            <a:ext cx="2336800" cy="41655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BB6771-EB4B-4C8C-AABA-ABF11B2BB7EB}"/>
              </a:ext>
            </a:extLst>
          </p:cNvPr>
          <p:cNvSpPr txBox="1"/>
          <p:nvPr/>
        </p:nvSpPr>
        <p:spPr>
          <a:xfrm>
            <a:off x="8717280" y="489445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7081520" y="5924289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17,500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717041" y="22792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15,300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53640" y="245363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3449319" y="2197079"/>
            <a:ext cx="1" cy="351806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21278" y="2218860"/>
            <a:ext cx="838199" cy="176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2166620" y="192635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282950" y="590233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388360" y="2951709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</a:t>
            </a:r>
            <a:endParaRPr lang="en-US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8E3158B-EFB5-47A3-9CD6-DB9BCB03110A}"/>
              </a:ext>
            </a:extLst>
          </p:cNvPr>
          <p:cNvSpPr/>
          <p:nvPr/>
        </p:nvSpPr>
        <p:spPr>
          <a:xfrm>
            <a:off x="7147560" y="1452880"/>
            <a:ext cx="508000" cy="250557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76CDEA-BA43-460D-AA81-8869BB480BA9}"/>
              </a:ext>
            </a:extLst>
          </p:cNvPr>
          <p:cNvSpPr txBox="1"/>
          <p:nvPr/>
        </p:nvSpPr>
        <p:spPr>
          <a:xfrm>
            <a:off x="7640320" y="137831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surplus</a:t>
            </a:r>
            <a:endParaRPr lang="en-US" sz="160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1C72BAC-0F5A-4260-B008-D1C4F210E969}"/>
              </a:ext>
            </a:extLst>
          </p:cNvPr>
          <p:cNvSpPr/>
          <p:nvPr/>
        </p:nvSpPr>
        <p:spPr>
          <a:xfrm>
            <a:off x="2608245" y="2216482"/>
            <a:ext cx="825827" cy="757404"/>
          </a:xfrm>
          <a:custGeom>
            <a:avLst/>
            <a:gdLst>
              <a:gd name="connsiteX0" fmla="*/ 0 w 843280"/>
              <a:gd name="connsiteY0" fmla="*/ 10160 h 690880"/>
              <a:gd name="connsiteX1" fmla="*/ 843280 w 843280"/>
              <a:gd name="connsiteY1" fmla="*/ 0 h 690880"/>
              <a:gd name="connsiteX2" fmla="*/ 833120 w 843280"/>
              <a:gd name="connsiteY2" fmla="*/ 690880 h 690880"/>
              <a:gd name="connsiteX3" fmla="*/ 0 w 843280"/>
              <a:gd name="connsiteY3" fmla="*/ 162560 h 690880"/>
              <a:gd name="connsiteX4" fmla="*/ 0 w 843280"/>
              <a:gd name="connsiteY4" fmla="*/ 10160 h 690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3280" h="690880">
                <a:moveTo>
                  <a:pt x="0" y="10160"/>
                </a:moveTo>
                <a:lnTo>
                  <a:pt x="843280" y="0"/>
                </a:lnTo>
                <a:lnTo>
                  <a:pt x="833120" y="690880"/>
                </a:lnTo>
                <a:lnTo>
                  <a:pt x="0" y="162560"/>
                </a:lnTo>
                <a:lnTo>
                  <a:pt x="0" y="10160"/>
                </a:lnTo>
                <a:close/>
              </a:path>
            </a:pathLst>
          </a:custGeom>
          <a:solidFill>
            <a:srgbClr val="C00000">
              <a:alpha val="2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D935DBB-B2BE-4D3A-98A4-1061D01342F6}"/>
              </a:ext>
            </a:extLst>
          </p:cNvPr>
          <p:cNvSpPr/>
          <p:nvPr/>
        </p:nvSpPr>
        <p:spPr>
          <a:xfrm>
            <a:off x="2598532" y="1562837"/>
            <a:ext cx="860946" cy="647626"/>
          </a:xfrm>
          <a:custGeom>
            <a:avLst/>
            <a:gdLst>
              <a:gd name="connsiteX0" fmla="*/ 0 w 822960"/>
              <a:gd name="connsiteY0" fmla="*/ 0 h 751840"/>
              <a:gd name="connsiteX1" fmla="*/ 0 w 822960"/>
              <a:gd name="connsiteY1" fmla="*/ 751840 h 751840"/>
              <a:gd name="connsiteX2" fmla="*/ 822960 w 822960"/>
              <a:gd name="connsiteY2" fmla="*/ 741680 h 751840"/>
              <a:gd name="connsiteX3" fmla="*/ 0 w 822960"/>
              <a:gd name="connsiteY3" fmla="*/ 0 h 751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2960" h="751840">
                <a:moveTo>
                  <a:pt x="0" y="0"/>
                </a:moveTo>
                <a:lnTo>
                  <a:pt x="0" y="751840"/>
                </a:lnTo>
                <a:lnTo>
                  <a:pt x="822960" y="74168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FE5C3D-3708-456B-B132-4D562522A649}"/>
              </a:ext>
            </a:extLst>
          </p:cNvPr>
          <p:cNvSpPr/>
          <p:nvPr/>
        </p:nvSpPr>
        <p:spPr>
          <a:xfrm>
            <a:off x="7147560" y="1901079"/>
            <a:ext cx="508000" cy="250557"/>
          </a:xfrm>
          <a:prstGeom prst="rect">
            <a:avLst/>
          </a:prstGeom>
          <a:solidFill>
            <a:srgbClr val="C0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253045-652D-431D-998E-99C5E74922F2}"/>
              </a:ext>
            </a:extLst>
          </p:cNvPr>
          <p:cNvSpPr txBox="1"/>
          <p:nvPr/>
        </p:nvSpPr>
        <p:spPr>
          <a:xfrm>
            <a:off x="7655560" y="1844788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profits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4056AB1-B39C-4612-B6AF-0F5256F1D329}"/>
              </a:ext>
            </a:extLst>
          </p:cNvPr>
          <p:cNvCxnSpPr>
            <a:cxnSpLocks/>
          </p:cNvCxnSpPr>
          <p:nvPr/>
        </p:nvCxnSpPr>
        <p:spPr>
          <a:xfrm flipH="1">
            <a:off x="2438400" y="2215908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8C4EDE-8E9F-423F-84AE-57E9EB6634CB}"/>
              </a:ext>
            </a:extLst>
          </p:cNvPr>
          <p:cNvCxnSpPr>
            <a:cxnSpLocks/>
          </p:cNvCxnSpPr>
          <p:nvPr/>
        </p:nvCxnSpPr>
        <p:spPr>
          <a:xfrm flipV="1">
            <a:off x="3449319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ED9623B-31C4-4F49-BC73-559BC8083B80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789CCD-0274-497C-9C9D-9CC6EC818147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421896E-BCA0-0935-1594-10FE7D30A713}"/>
              </a:ext>
            </a:extLst>
          </p:cNvPr>
          <p:cNvCxnSpPr>
            <a:cxnSpLocks/>
          </p:cNvCxnSpPr>
          <p:nvPr/>
        </p:nvCxnSpPr>
        <p:spPr>
          <a:xfrm>
            <a:off x="2590800" y="5562734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B9464E-B095-D251-1DFF-2C5BED34DF05}"/>
              </a:ext>
            </a:extLst>
          </p:cNvPr>
          <p:cNvCxnSpPr>
            <a:cxnSpLocks/>
          </p:cNvCxnSpPr>
          <p:nvPr/>
        </p:nvCxnSpPr>
        <p:spPr>
          <a:xfrm flipH="1">
            <a:off x="7309016" y="5590977"/>
            <a:ext cx="6184" cy="16138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60E71D-2BDD-B3A9-0009-B95A726156EF}"/>
              </a:ext>
            </a:extLst>
          </p:cNvPr>
          <p:cNvSpPr txBox="1"/>
          <p:nvPr/>
        </p:nvSpPr>
        <p:spPr>
          <a:xfrm>
            <a:off x="1981200" y="5376592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en-US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CEE0F4-6C61-16CB-265A-B9DC8F1A9FAD}"/>
              </a:ext>
            </a:extLst>
          </p:cNvPr>
          <p:cNvCxnSpPr>
            <a:cxnSpLocks/>
          </p:cNvCxnSpPr>
          <p:nvPr/>
        </p:nvCxnSpPr>
        <p:spPr>
          <a:xfrm>
            <a:off x="7309016" y="5346797"/>
            <a:ext cx="0" cy="40556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216693-313A-691C-28F3-74CF41F913C0}"/>
              </a:ext>
            </a:extLst>
          </p:cNvPr>
          <p:cNvCxnSpPr>
            <a:cxnSpLocks/>
          </p:cNvCxnSpPr>
          <p:nvPr/>
        </p:nvCxnSpPr>
        <p:spPr>
          <a:xfrm>
            <a:off x="2584616" y="5287759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B7F3819-7EBE-A3A7-277E-B8B39045AB67}"/>
              </a:ext>
            </a:extLst>
          </p:cNvPr>
          <p:cNvCxnSpPr>
            <a:cxnSpLocks/>
          </p:cNvCxnSpPr>
          <p:nvPr/>
        </p:nvCxnSpPr>
        <p:spPr>
          <a:xfrm flipH="1">
            <a:off x="2418080" y="528775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C34C335-BC63-6ECF-3F64-B6974535DB0C}"/>
              </a:ext>
            </a:extLst>
          </p:cNvPr>
          <p:cNvSpPr txBox="1"/>
          <p:nvPr/>
        </p:nvSpPr>
        <p:spPr>
          <a:xfrm>
            <a:off x="1978659" y="5118482"/>
            <a:ext cx="50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850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60D18F-6D99-6EB5-56ED-C78B012DEA8C}"/>
              </a:ext>
            </a:extLst>
          </p:cNvPr>
          <p:cNvSpPr txBox="1"/>
          <p:nvPr/>
        </p:nvSpPr>
        <p:spPr>
          <a:xfrm>
            <a:off x="5907488" y="4889896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D9CCBC-938F-049A-927F-6DC5D3524AD7}"/>
              </a:ext>
            </a:extLst>
          </p:cNvPr>
          <p:cNvSpPr txBox="1"/>
          <p:nvPr/>
        </p:nvSpPr>
        <p:spPr>
          <a:xfrm>
            <a:off x="4505961" y="471812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</p:spTree>
    <p:extLst>
      <p:ext uri="{BB962C8B-B14F-4D97-AF65-F5344CB8AC3E}">
        <p14:creationId xmlns:p14="http://schemas.microsoft.com/office/powerpoint/2010/main" val="118329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51539" y="2485171"/>
            <a:ext cx="4704080" cy="3137337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EC54E3-F05E-41C2-BFF1-4B0E41249F4A}"/>
              </a:ext>
            </a:extLst>
          </p:cNvPr>
          <p:cNvCxnSpPr>
            <a:cxnSpLocks/>
          </p:cNvCxnSpPr>
          <p:nvPr/>
        </p:nvCxnSpPr>
        <p:spPr>
          <a:xfrm>
            <a:off x="2621280" y="2453639"/>
            <a:ext cx="6583680" cy="287020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  <a:stCxn id="4" idx="0"/>
          </p:cNvCxnSpPr>
          <p:nvPr/>
        </p:nvCxnSpPr>
        <p:spPr>
          <a:xfrm>
            <a:off x="2604218" y="1523632"/>
            <a:ext cx="4728266" cy="3789195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21280" y="1574801"/>
            <a:ext cx="2336800" cy="41655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BB6771-EB4B-4C8C-AABA-ABF11B2BB7EB}"/>
              </a:ext>
            </a:extLst>
          </p:cNvPr>
          <p:cNvSpPr txBox="1"/>
          <p:nvPr/>
        </p:nvSpPr>
        <p:spPr>
          <a:xfrm>
            <a:off x="8717280" y="489445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7081520" y="5924289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17,500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717041" y="22792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15,300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53640" y="245363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3449320" y="2205604"/>
            <a:ext cx="0" cy="350954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21280" y="2186775"/>
            <a:ext cx="812800" cy="1882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2166622" y="1916050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282950" y="590233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388360" y="2951709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</a:t>
            </a:r>
            <a:endParaRPr lang="en-US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8E3158B-EFB5-47A3-9CD6-DB9BCB03110A}"/>
              </a:ext>
            </a:extLst>
          </p:cNvPr>
          <p:cNvSpPr/>
          <p:nvPr/>
        </p:nvSpPr>
        <p:spPr>
          <a:xfrm>
            <a:off x="7147560" y="1452880"/>
            <a:ext cx="508000" cy="250557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76CDEA-BA43-460D-AA81-8869BB480BA9}"/>
              </a:ext>
            </a:extLst>
          </p:cNvPr>
          <p:cNvSpPr txBox="1"/>
          <p:nvPr/>
        </p:nvSpPr>
        <p:spPr>
          <a:xfrm>
            <a:off x="7640320" y="1380919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surplus</a:t>
            </a:r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FE5C3D-3708-456B-B132-4D562522A649}"/>
              </a:ext>
            </a:extLst>
          </p:cNvPr>
          <p:cNvSpPr/>
          <p:nvPr/>
        </p:nvSpPr>
        <p:spPr>
          <a:xfrm>
            <a:off x="7147560" y="1901079"/>
            <a:ext cx="508000" cy="250557"/>
          </a:xfrm>
          <a:prstGeom prst="rect">
            <a:avLst/>
          </a:prstGeom>
          <a:solidFill>
            <a:srgbClr val="C0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253045-652D-431D-998E-99C5E74922F2}"/>
              </a:ext>
            </a:extLst>
          </p:cNvPr>
          <p:cNvSpPr txBox="1"/>
          <p:nvPr/>
        </p:nvSpPr>
        <p:spPr>
          <a:xfrm>
            <a:off x="7655560" y="1844788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profits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4056AB1-B39C-4612-B6AF-0F5256F1D329}"/>
              </a:ext>
            </a:extLst>
          </p:cNvPr>
          <p:cNvCxnSpPr>
            <a:cxnSpLocks/>
          </p:cNvCxnSpPr>
          <p:nvPr/>
        </p:nvCxnSpPr>
        <p:spPr>
          <a:xfrm flipH="1">
            <a:off x="2438400" y="220560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8C4EDE-8E9F-423F-84AE-57E9EB6634CB}"/>
              </a:ext>
            </a:extLst>
          </p:cNvPr>
          <p:cNvCxnSpPr>
            <a:cxnSpLocks/>
          </p:cNvCxnSpPr>
          <p:nvPr/>
        </p:nvCxnSpPr>
        <p:spPr>
          <a:xfrm flipV="1">
            <a:off x="3449319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4237CA-F06F-4550-AA2A-7323A7898B0F}"/>
              </a:ext>
            </a:extLst>
          </p:cNvPr>
          <p:cNvCxnSpPr>
            <a:cxnSpLocks/>
          </p:cNvCxnSpPr>
          <p:nvPr/>
        </p:nvCxnSpPr>
        <p:spPr>
          <a:xfrm>
            <a:off x="2590800" y="4037549"/>
            <a:ext cx="6695440" cy="46844"/>
          </a:xfrm>
          <a:prstGeom prst="straightConnector1">
            <a:avLst/>
          </a:prstGeom>
          <a:ln w="19050">
            <a:solidFill>
              <a:srgbClr val="7030A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0F8EDF-6EA1-4346-BFDE-2468D9663248}"/>
              </a:ext>
            </a:extLst>
          </p:cNvPr>
          <p:cNvCxnSpPr>
            <a:cxnSpLocks/>
          </p:cNvCxnSpPr>
          <p:nvPr/>
        </p:nvCxnSpPr>
        <p:spPr>
          <a:xfrm flipH="1">
            <a:off x="2407920" y="403754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9CF7986-DBC9-4C52-9F09-523D31518ADF}"/>
              </a:ext>
            </a:extLst>
          </p:cNvPr>
          <p:cNvSpPr txBox="1"/>
          <p:nvPr/>
        </p:nvSpPr>
        <p:spPr>
          <a:xfrm>
            <a:off x="1381760" y="3832506"/>
            <a:ext cx="11798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8,000</a:t>
            </a:r>
            <a:endParaRPr lang="en-US" sz="1600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A545946-299E-460D-8A92-CBEC5A69F7C1}"/>
              </a:ext>
            </a:extLst>
          </p:cNvPr>
          <p:cNvSpPr/>
          <p:nvPr/>
        </p:nvSpPr>
        <p:spPr>
          <a:xfrm>
            <a:off x="2604218" y="1523632"/>
            <a:ext cx="3154458" cy="2529840"/>
          </a:xfrm>
          <a:custGeom>
            <a:avLst/>
            <a:gdLst>
              <a:gd name="connsiteX0" fmla="*/ 0 w 2844800"/>
              <a:gd name="connsiteY0" fmla="*/ 0 h 2529840"/>
              <a:gd name="connsiteX1" fmla="*/ 10160 w 2844800"/>
              <a:gd name="connsiteY1" fmla="*/ 2509520 h 2529840"/>
              <a:gd name="connsiteX2" fmla="*/ 2844800 w 2844800"/>
              <a:gd name="connsiteY2" fmla="*/ 2529840 h 2529840"/>
              <a:gd name="connsiteX3" fmla="*/ 0 w 2844800"/>
              <a:gd name="connsiteY3" fmla="*/ 0 h 2529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4800" h="2529840">
                <a:moveTo>
                  <a:pt x="0" y="0"/>
                </a:moveTo>
                <a:cubicBezTo>
                  <a:pt x="3387" y="836507"/>
                  <a:pt x="6773" y="1673013"/>
                  <a:pt x="10160" y="2509520"/>
                </a:cubicBezTo>
                <a:lnTo>
                  <a:pt x="2844800" y="25298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AA0E9FD-B34D-4041-9559-1FB367AA7C52}"/>
              </a:ext>
            </a:extLst>
          </p:cNvPr>
          <p:cNvSpPr/>
          <p:nvPr/>
        </p:nvSpPr>
        <p:spPr>
          <a:xfrm>
            <a:off x="5786120" y="4053472"/>
            <a:ext cx="1533055" cy="1241516"/>
          </a:xfrm>
          <a:custGeom>
            <a:avLst/>
            <a:gdLst>
              <a:gd name="connsiteX0" fmla="*/ 0 w 1869440"/>
              <a:gd name="connsiteY0" fmla="*/ 20320 h 1696720"/>
              <a:gd name="connsiteX1" fmla="*/ 1869440 w 1869440"/>
              <a:gd name="connsiteY1" fmla="*/ 1696720 h 1696720"/>
              <a:gd name="connsiteX2" fmla="*/ 1838960 w 1869440"/>
              <a:gd name="connsiteY2" fmla="*/ 0 h 1696720"/>
              <a:gd name="connsiteX3" fmla="*/ 0 w 1869440"/>
              <a:gd name="connsiteY3" fmla="*/ 20320 h 169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9440" h="1696720">
                <a:moveTo>
                  <a:pt x="0" y="20320"/>
                </a:moveTo>
                <a:lnTo>
                  <a:pt x="1869440" y="1696720"/>
                </a:lnTo>
                <a:lnTo>
                  <a:pt x="1838960" y="0"/>
                </a:lnTo>
                <a:lnTo>
                  <a:pt x="0" y="20320"/>
                </a:lnTo>
                <a:close/>
              </a:path>
            </a:pathLst>
          </a:cu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70C23-2EA4-4A98-9996-A0045BAB3823}"/>
              </a:ext>
            </a:extLst>
          </p:cNvPr>
          <p:cNvCxnSpPr/>
          <p:nvPr/>
        </p:nvCxnSpPr>
        <p:spPr>
          <a:xfrm flipH="1">
            <a:off x="6827520" y="3637279"/>
            <a:ext cx="416560" cy="1046481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4ED7EFE-637D-417B-83FE-59913F94C258}"/>
              </a:ext>
            </a:extLst>
          </p:cNvPr>
          <p:cNvSpPr txBox="1"/>
          <p:nvPr/>
        </p:nvSpPr>
        <p:spPr>
          <a:xfrm>
            <a:off x="7244080" y="3268905"/>
            <a:ext cx="363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 of the consumer surplus (B)</a:t>
            </a:r>
            <a:endParaRPr 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D9966E-84EE-46F6-A5AC-A4CC46A4CFCA}"/>
              </a:ext>
            </a:extLst>
          </p:cNvPr>
          <p:cNvSpPr txBox="1"/>
          <p:nvPr/>
        </p:nvSpPr>
        <p:spPr>
          <a:xfrm>
            <a:off x="3997960" y="1653819"/>
            <a:ext cx="270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 of the consumer surplus (A)</a:t>
            </a:r>
            <a:endParaRPr lang="en-US" sz="16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646EF7-4B5A-4836-B582-B0F3944A68E2}"/>
              </a:ext>
            </a:extLst>
          </p:cNvPr>
          <p:cNvCxnSpPr>
            <a:cxnSpLocks/>
          </p:cNvCxnSpPr>
          <p:nvPr/>
        </p:nvCxnSpPr>
        <p:spPr>
          <a:xfrm flipH="1">
            <a:off x="3157219" y="2325501"/>
            <a:ext cx="1201422" cy="1103499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FA2F604-DD9F-4C6E-BDB5-993CD2EF2F93}"/>
              </a:ext>
            </a:extLst>
          </p:cNvPr>
          <p:cNvSpPr txBox="1"/>
          <p:nvPr/>
        </p:nvSpPr>
        <p:spPr>
          <a:xfrm>
            <a:off x="2499360" y="6369232"/>
            <a:ext cx="3891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surplus = area of A – area of B </a:t>
            </a:r>
            <a:endParaRPr lang="en-US" sz="1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0A2B30-45E3-42AE-B3C7-5463EE70CCC9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3715E6E-E754-42C1-8CBD-7BE896B06E6B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217D66C-452E-288C-CF4F-FA1AD7A9AB5A}"/>
              </a:ext>
            </a:extLst>
          </p:cNvPr>
          <p:cNvCxnSpPr>
            <a:cxnSpLocks/>
          </p:cNvCxnSpPr>
          <p:nvPr/>
        </p:nvCxnSpPr>
        <p:spPr>
          <a:xfrm>
            <a:off x="2590800" y="5562734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8A1FE2F-85A2-3E84-3C26-D4AF1E625FC2}"/>
              </a:ext>
            </a:extLst>
          </p:cNvPr>
          <p:cNvCxnSpPr>
            <a:cxnSpLocks/>
          </p:cNvCxnSpPr>
          <p:nvPr/>
        </p:nvCxnSpPr>
        <p:spPr>
          <a:xfrm flipH="1">
            <a:off x="7309016" y="5590977"/>
            <a:ext cx="6184" cy="16138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C67FD5-FA98-60EB-853E-D87F9AF3DE53}"/>
              </a:ext>
            </a:extLst>
          </p:cNvPr>
          <p:cNvSpPr txBox="1"/>
          <p:nvPr/>
        </p:nvSpPr>
        <p:spPr>
          <a:xfrm>
            <a:off x="1981200" y="5376592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en-US" sz="16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AAB399-E057-2553-37E1-31A9DAB38B50}"/>
              </a:ext>
            </a:extLst>
          </p:cNvPr>
          <p:cNvCxnSpPr>
            <a:cxnSpLocks/>
          </p:cNvCxnSpPr>
          <p:nvPr/>
        </p:nvCxnSpPr>
        <p:spPr>
          <a:xfrm>
            <a:off x="7309016" y="5346797"/>
            <a:ext cx="0" cy="40556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A230DF-D4E0-E13D-0B2E-4CBC73DBF444}"/>
              </a:ext>
            </a:extLst>
          </p:cNvPr>
          <p:cNvCxnSpPr>
            <a:cxnSpLocks/>
          </p:cNvCxnSpPr>
          <p:nvPr/>
        </p:nvCxnSpPr>
        <p:spPr>
          <a:xfrm>
            <a:off x="2584616" y="5287759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B4DFDB-CFE2-D70F-3E1D-00A67FAB4774}"/>
              </a:ext>
            </a:extLst>
          </p:cNvPr>
          <p:cNvCxnSpPr>
            <a:cxnSpLocks/>
          </p:cNvCxnSpPr>
          <p:nvPr/>
        </p:nvCxnSpPr>
        <p:spPr>
          <a:xfrm flipH="1">
            <a:off x="2418080" y="528775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E29ACEC-2073-758D-7469-A4F76794A741}"/>
              </a:ext>
            </a:extLst>
          </p:cNvPr>
          <p:cNvSpPr txBox="1"/>
          <p:nvPr/>
        </p:nvSpPr>
        <p:spPr>
          <a:xfrm>
            <a:off x="1978659" y="5118482"/>
            <a:ext cx="50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850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391F96-6F4D-DB7B-9189-9D1F9C6EDEA2}"/>
              </a:ext>
            </a:extLst>
          </p:cNvPr>
          <p:cNvSpPr txBox="1"/>
          <p:nvPr/>
        </p:nvSpPr>
        <p:spPr>
          <a:xfrm>
            <a:off x="5907488" y="4889896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4D9F07-07E9-F707-B235-48FA97FC18EE}"/>
              </a:ext>
            </a:extLst>
          </p:cNvPr>
          <p:cNvSpPr txBox="1"/>
          <p:nvPr/>
        </p:nvSpPr>
        <p:spPr>
          <a:xfrm>
            <a:off x="4505961" y="471812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</p:spTree>
    <p:extLst>
      <p:ext uri="{BB962C8B-B14F-4D97-AF65-F5344CB8AC3E}">
        <p14:creationId xmlns:p14="http://schemas.microsoft.com/office/powerpoint/2010/main" val="368738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11120" y="2453640"/>
            <a:ext cx="4697896" cy="3109094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EC54E3-F05E-41C2-BFF1-4B0E41249F4A}"/>
              </a:ext>
            </a:extLst>
          </p:cNvPr>
          <p:cNvCxnSpPr>
            <a:cxnSpLocks/>
          </p:cNvCxnSpPr>
          <p:nvPr/>
        </p:nvCxnSpPr>
        <p:spPr>
          <a:xfrm>
            <a:off x="2621280" y="2453639"/>
            <a:ext cx="6583680" cy="287020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08056" cy="37490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21280" y="1574801"/>
            <a:ext cx="2336800" cy="41655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BB6771-EB4B-4C8C-AABA-ABF11B2BB7EB}"/>
              </a:ext>
            </a:extLst>
          </p:cNvPr>
          <p:cNvSpPr txBox="1"/>
          <p:nvPr/>
        </p:nvSpPr>
        <p:spPr>
          <a:xfrm>
            <a:off x="8717280" y="4894450"/>
            <a:ext cx="64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endParaRPr lang="en-US" sz="1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7081520" y="5924289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17,500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717041" y="22792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15,300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53640" y="245363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3449320" y="2286000"/>
            <a:ext cx="0" cy="342914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36520" y="2286000"/>
            <a:ext cx="812800" cy="1882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2181862" y="201527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282950" y="590233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388360" y="2951709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</a:t>
            </a:r>
            <a:endParaRPr lang="en-US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8E3158B-EFB5-47A3-9CD6-DB9BCB03110A}"/>
              </a:ext>
            </a:extLst>
          </p:cNvPr>
          <p:cNvSpPr/>
          <p:nvPr/>
        </p:nvSpPr>
        <p:spPr>
          <a:xfrm>
            <a:off x="7147560" y="1452880"/>
            <a:ext cx="508000" cy="250557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476CDEA-BA43-460D-AA81-8869BB480BA9}"/>
              </a:ext>
            </a:extLst>
          </p:cNvPr>
          <p:cNvSpPr txBox="1"/>
          <p:nvPr/>
        </p:nvSpPr>
        <p:spPr>
          <a:xfrm>
            <a:off x="7640320" y="1380919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surplus</a:t>
            </a:r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FE5C3D-3708-456B-B132-4D562522A649}"/>
              </a:ext>
            </a:extLst>
          </p:cNvPr>
          <p:cNvSpPr/>
          <p:nvPr/>
        </p:nvSpPr>
        <p:spPr>
          <a:xfrm>
            <a:off x="7147560" y="1901079"/>
            <a:ext cx="508000" cy="250557"/>
          </a:xfrm>
          <a:prstGeom prst="rect">
            <a:avLst/>
          </a:prstGeom>
          <a:solidFill>
            <a:srgbClr val="C0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253045-652D-431D-998E-99C5E74922F2}"/>
              </a:ext>
            </a:extLst>
          </p:cNvPr>
          <p:cNvSpPr txBox="1"/>
          <p:nvPr/>
        </p:nvSpPr>
        <p:spPr>
          <a:xfrm>
            <a:off x="7655560" y="1844788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profits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4056AB1-B39C-4612-B6AF-0F5256F1D329}"/>
              </a:ext>
            </a:extLst>
          </p:cNvPr>
          <p:cNvCxnSpPr>
            <a:cxnSpLocks/>
          </p:cNvCxnSpPr>
          <p:nvPr/>
        </p:nvCxnSpPr>
        <p:spPr>
          <a:xfrm flipH="1">
            <a:off x="2453640" y="230482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58C4EDE-8E9F-423F-84AE-57E9EB6634CB}"/>
              </a:ext>
            </a:extLst>
          </p:cNvPr>
          <p:cNvCxnSpPr>
            <a:cxnSpLocks/>
          </p:cNvCxnSpPr>
          <p:nvPr/>
        </p:nvCxnSpPr>
        <p:spPr>
          <a:xfrm flipV="1">
            <a:off x="3449319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04237CA-F06F-4550-AA2A-7323A7898B0F}"/>
              </a:ext>
            </a:extLst>
          </p:cNvPr>
          <p:cNvCxnSpPr>
            <a:cxnSpLocks/>
          </p:cNvCxnSpPr>
          <p:nvPr/>
        </p:nvCxnSpPr>
        <p:spPr>
          <a:xfrm>
            <a:off x="2590800" y="4037549"/>
            <a:ext cx="6695440" cy="46844"/>
          </a:xfrm>
          <a:prstGeom prst="straightConnector1">
            <a:avLst/>
          </a:prstGeom>
          <a:ln w="19050">
            <a:solidFill>
              <a:srgbClr val="7030A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0F8EDF-6EA1-4346-BFDE-2468D9663248}"/>
              </a:ext>
            </a:extLst>
          </p:cNvPr>
          <p:cNvCxnSpPr>
            <a:cxnSpLocks/>
          </p:cNvCxnSpPr>
          <p:nvPr/>
        </p:nvCxnSpPr>
        <p:spPr>
          <a:xfrm flipH="1">
            <a:off x="2407920" y="403754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9CF7986-DBC9-4C52-9F09-523D31518ADF}"/>
              </a:ext>
            </a:extLst>
          </p:cNvPr>
          <p:cNvSpPr txBox="1"/>
          <p:nvPr/>
        </p:nvSpPr>
        <p:spPr>
          <a:xfrm>
            <a:off x="1381760" y="3832506"/>
            <a:ext cx="11798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8,000</a:t>
            </a:r>
            <a:endParaRPr lang="en-US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70C23-2EA4-4A98-9996-A0045BAB3823}"/>
              </a:ext>
            </a:extLst>
          </p:cNvPr>
          <p:cNvCxnSpPr/>
          <p:nvPr/>
        </p:nvCxnSpPr>
        <p:spPr>
          <a:xfrm flipH="1">
            <a:off x="6827520" y="3637279"/>
            <a:ext cx="416560" cy="1046481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4ED7EFE-637D-417B-83FE-59913F94C258}"/>
              </a:ext>
            </a:extLst>
          </p:cNvPr>
          <p:cNvSpPr txBox="1"/>
          <p:nvPr/>
        </p:nvSpPr>
        <p:spPr>
          <a:xfrm>
            <a:off x="7244080" y="3268905"/>
            <a:ext cx="363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 of the firm profit (B)</a:t>
            </a:r>
            <a:endParaRPr lang="en-US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D9966E-84EE-46F6-A5AC-A4CC46A4CFCA}"/>
              </a:ext>
            </a:extLst>
          </p:cNvPr>
          <p:cNvSpPr txBox="1"/>
          <p:nvPr/>
        </p:nvSpPr>
        <p:spPr>
          <a:xfrm>
            <a:off x="3997960" y="1653819"/>
            <a:ext cx="2702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 of the firm profit (A)</a:t>
            </a:r>
            <a:endParaRPr lang="en-US" sz="1600" dirty="0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A2646EF7-4B5A-4836-B582-B0F3944A68E2}"/>
              </a:ext>
            </a:extLst>
          </p:cNvPr>
          <p:cNvCxnSpPr>
            <a:cxnSpLocks/>
          </p:cNvCxnSpPr>
          <p:nvPr/>
        </p:nvCxnSpPr>
        <p:spPr>
          <a:xfrm flipH="1">
            <a:off x="3157219" y="2325501"/>
            <a:ext cx="1201422" cy="1103499"/>
          </a:xfrm>
          <a:prstGeom prst="straightConnector1">
            <a:avLst/>
          </a:prstGeom>
          <a:ln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FA2F604-DD9F-4C6E-BDB5-993CD2EF2F93}"/>
              </a:ext>
            </a:extLst>
          </p:cNvPr>
          <p:cNvSpPr txBox="1"/>
          <p:nvPr/>
        </p:nvSpPr>
        <p:spPr>
          <a:xfrm>
            <a:off x="2499360" y="6369232"/>
            <a:ext cx="36372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profit = area of B – area of A </a:t>
            </a:r>
            <a:endParaRPr lang="en-US" sz="1600" b="1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44AACF2-DE8C-42E8-93F8-7DC1E538BFFA}"/>
              </a:ext>
            </a:extLst>
          </p:cNvPr>
          <p:cNvSpPr/>
          <p:nvPr/>
        </p:nvSpPr>
        <p:spPr>
          <a:xfrm>
            <a:off x="2590800" y="2448560"/>
            <a:ext cx="2448339" cy="1609271"/>
          </a:xfrm>
          <a:custGeom>
            <a:avLst/>
            <a:gdLst>
              <a:gd name="connsiteX0" fmla="*/ 10160 w 2255520"/>
              <a:gd name="connsiteY0" fmla="*/ 0 h 1615440"/>
              <a:gd name="connsiteX1" fmla="*/ 0 w 2255520"/>
              <a:gd name="connsiteY1" fmla="*/ 1584960 h 1615440"/>
              <a:gd name="connsiteX2" fmla="*/ 2255520 w 2255520"/>
              <a:gd name="connsiteY2" fmla="*/ 1615440 h 1615440"/>
              <a:gd name="connsiteX3" fmla="*/ 10160 w 2255520"/>
              <a:gd name="connsiteY3" fmla="*/ 0 h 161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5520" h="1615440">
                <a:moveTo>
                  <a:pt x="10160" y="0"/>
                </a:moveTo>
                <a:cubicBezTo>
                  <a:pt x="6773" y="528320"/>
                  <a:pt x="3387" y="1056640"/>
                  <a:pt x="0" y="1584960"/>
                </a:cubicBezTo>
                <a:lnTo>
                  <a:pt x="2255520" y="1615440"/>
                </a:lnTo>
                <a:lnTo>
                  <a:pt x="10160" y="0"/>
                </a:lnTo>
                <a:close/>
              </a:path>
            </a:pathLst>
          </a:custGeom>
          <a:solidFill>
            <a:srgbClr val="C00000">
              <a:alpha val="3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5A3ABE1-0CE8-4259-B0EB-6667A7DDCA33}"/>
              </a:ext>
            </a:extLst>
          </p:cNvPr>
          <p:cNvSpPr/>
          <p:nvPr/>
        </p:nvSpPr>
        <p:spPr>
          <a:xfrm>
            <a:off x="5039138" y="4043680"/>
            <a:ext cx="2276061" cy="1503065"/>
          </a:xfrm>
          <a:custGeom>
            <a:avLst/>
            <a:gdLst>
              <a:gd name="connsiteX0" fmla="*/ 0 w 2438400"/>
              <a:gd name="connsiteY0" fmla="*/ 10160 h 1666240"/>
              <a:gd name="connsiteX1" fmla="*/ 2438400 w 2438400"/>
              <a:gd name="connsiteY1" fmla="*/ 1666240 h 1666240"/>
              <a:gd name="connsiteX2" fmla="*/ 2438400 w 2438400"/>
              <a:gd name="connsiteY2" fmla="*/ 0 h 1666240"/>
              <a:gd name="connsiteX3" fmla="*/ 0 w 2438400"/>
              <a:gd name="connsiteY3" fmla="*/ 10160 h 1666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400" h="1666240">
                <a:moveTo>
                  <a:pt x="0" y="10160"/>
                </a:moveTo>
                <a:lnTo>
                  <a:pt x="2438400" y="1666240"/>
                </a:lnTo>
                <a:lnTo>
                  <a:pt x="2438400" y="0"/>
                </a:lnTo>
                <a:lnTo>
                  <a:pt x="0" y="10160"/>
                </a:lnTo>
                <a:close/>
              </a:path>
            </a:pathLst>
          </a:custGeom>
          <a:solidFill>
            <a:srgbClr val="C00000">
              <a:alpha val="3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490A26-0BC4-42C7-8CB6-700B7C5A58F0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9A433F6-2CC2-4679-859D-5172D82C0D67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89E1B7B-6EF3-33F6-F511-679A2EA8E9A4}"/>
              </a:ext>
            </a:extLst>
          </p:cNvPr>
          <p:cNvCxnSpPr>
            <a:cxnSpLocks/>
          </p:cNvCxnSpPr>
          <p:nvPr/>
        </p:nvCxnSpPr>
        <p:spPr>
          <a:xfrm>
            <a:off x="2590800" y="5562734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170F35-A3E7-30CC-8F2A-33FD13B6A81E}"/>
              </a:ext>
            </a:extLst>
          </p:cNvPr>
          <p:cNvCxnSpPr>
            <a:cxnSpLocks/>
          </p:cNvCxnSpPr>
          <p:nvPr/>
        </p:nvCxnSpPr>
        <p:spPr>
          <a:xfrm flipH="1">
            <a:off x="7309016" y="5590977"/>
            <a:ext cx="6184" cy="16138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BD0BD81-620A-9BA8-475C-FE8EA8B09B38}"/>
              </a:ext>
            </a:extLst>
          </p:cNvPr>
          <p:cNvSpPr txBox="1"/>
          <p:nvPr/>
        </p:nvSpPr>
        <p:spPr>
          <a:xfrm>
            <a:off x="1981200" y="5376592"/>
            <a:ext cx="594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en-US" sz="16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D7789B-8517-8B75-8644-CBD0B4735289}"/>
              </a:ext>
            </a:extLst>
          </p:cNvPr>
          <p:cNvCxnSpPr>
            <a:cxnSpLocks/>
          </p:cNvCxnSpPr>
          <p:nvPr/>
        </p:nvCxnSpPr>
        <p:spPr>
          <a:xfrm>
            <a:off x="7309016" y="5346797"/>
            <a:ext cx="0" cy="40556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53142E-66A0-9494-5129-F0B76566D7FE}"/>
              </a:ext>
            </a:extLst>
          </p:cNvPr>
          <p:cNvCxnSpPr>
            <a:cxnSpLocks/>
          </p:cNvCxnSpPr>
          <p:nvPr/>
        </p:nvCxnSpPr>
        <p:spPr>
          <a:xfrm>
            <a:off x="2584616" y="5287759"/>
            <a:ext cx="4724400" cy="421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2E4E4BD-445E-5248-AAAF-B8863EB46DDE}"/>
              </a:ext>
            </a:extLst>
          </p:cNvPr>
          <p:cNvCxnSpPr>
            <a:cxnSpLocks/>
          </p:cNvCxnSpPr>
          <p:nvPr/>
        </p:nvCxnSpPr>
        <p:spPr>
          <a:xfrm flipH="1">
            <a:off x="2418080" y="528775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A04A550-2B47-2A9F-1A73-3D526BB8C927}"/>
              </a:ext>
            </a:extLst>
          </p:cNvPr>
          <p:cNvSpPr txBox="1"/>
          <p:nvPr/>
        </p:nvSpPr>
        <p:spPr>
          <a:xfrm>
            <a:off x="1978659" y="5118482"/>
            <a:ext cx="50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850</a:t>
            </a:r>
            <a:endParaRPr lang="en-US" sz="16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AFE1AB-08A5-6B37-C95E-E6989EF50D17}"/>
              </a:ext>
            </a:extLst>
          </p:cNvPr>
          <p:cNvSpPr txBox="1"/>
          <p:nvPr/>
        </p:nvSpPr>
        <p:spPr>
          <a:xfrm>
            <a:off x="5907488" y="4889896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F88DCC-5158-33C3-7FF1-DFC6FE9A43E6}"/>
              </a:ext>
            </a:extLst>
          </p:cNvPr>
          <p:cNvSpPr txBox="1"/>
          <p:nvPr/>
        </p:nvSpPr>
        <p:spPr>
          <a:xfrm>
            <a:off x="4505961" y="471812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</p:spTree>
    <p:extLst>
      <p:ext uri="{BB962C8B-B14F-4D97-AF65-F5344CB8AC3E}">
        <p14:creationId xmlns:p14="http://schemas.microsoft.com/office/powerpoint/2010/main" val="3416429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21280" y="4143055"/>
            <a:ext cx="4616282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21280" y="1574801"/>
            <a:ext cx="2336800" cy="41655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6878783" y="3835278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897120" y="5364481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681018" y="3973778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17617" y="414813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4051301" y="2879646"/>
            <a:ext cx="0" cy="287271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36521" y="2844841"/>
            <a:ext cx="1414780" cy="20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1456689" y="2666776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609980" y="5862013"/>
            <a:ext cx="10731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3,000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990342" y="4074473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</a:t>
            </a:r>
            <a:endParaRPr lang="en-US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E004E5-1374-4155-A395-3ACB1A6DB997}"/>
              </a:ext>
            </a:extLst>
          </p:cNvPr>
          <p:cNvCxnSpPr>
            <a:cxnSpLocks/>
          </p:cNvCxnSpPr>
          <p:nvPr/>
        </p:nvCxnSpPr>
        <p:spPr>
          <a:xfrm flipH="1">
            <a:off x="2417619" y="282359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4051302" y="5740318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8FB1A5-EEA6-4930-A212-5521C2FDBAA7}"/>
              </a:ext>
            </a:extLst>
          </p:cNvPr>
          <p:cNvSpPr/>
          <p:nvPr/>
        </p:nvSpPr>
        <p:spPr>
          <a:xfrm>
            <a:off x="2604656" y="2823598"/>
            <a:ext cx="1446646" cy="1323529"/>
          </a:xfrm>
          <a:custGeom>
            <a:avLst/>
            <a:gdLst>
              <a:gd name="connsiteX0" fmla="*/ 9236 w 1459345"/>
              <a:gd name="connsiteY0" fmla="*/ 0 h 1311563"/>
              <a:gd name="connsiteX1" fmla="*/ 1459345 w 1459345"/>
              <a:gd name="connsiteY1" fmla="*/ 18472 h 1311563"/>
              <a:gd name="connsiteX2" fmla="*/ 1440872 w 1459345"/>
              <a:gd name="connsiteY2" fmla="*/ 1293091 h 1311563"/>
              <a:gd name="connsiteX3" fmla="*/ 36945 w 1459345"/>
              <a:gd name="connsiteY3" fmla="*/ 1302327 h 1311563"/>
              <a:gd name="connsiteX4" fmla="*/ 0 w 1459345"/>
              <a:gd name="connsiteY4" fmla="*/ 1311563 h 1311563"/>
              <a:gd name="connsiteX5" fmla="*/ 9236 w 1459345"/>
              <a:gd name="connsiteY5" fmla="*/ 0 h 131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9345" h="1311563">
                <a:moveTo>
                  <a:pt x="9236" y="0"/>
                </a:moveTo>
                <a:lnTo>
                  <a:pt x="1459345" y="18472"/>
                </a:lnTo>
                <a:lnTo>
                  <a:pt x="1440872" y="1293091"/>
                </a:lnTo>
                <a:lnTo>
                  <a:pt x="36945" y="1302327"/>
                </a:lnTo>
                <a:lnTo>
                  <a:pt x="0" y="1311563"/>
                </a:lnTo>
                <a:cubicBezTo>
                  <a:pt x="3079" y="874375"/>
                  <a:pt x="6157" y="437188"/>
                  <a:pt x="9236" y="0"/>
                </a:cubicBezTo>
                <a:close/>
              </a:path>
            </a:pathLst>
          </a:cu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C9F899-FA28-45A9-AF4D-3BBFBA2D2C6E}"/>
              </a:ext>
            </a:extLst>
          </p:cNvPr>
          <p:cNvSpPr/>
          <p:nvPr/>
        </p:nvSpPr>
        <p:spPr>
          <a:xfrm>
            <a:off x="7132320" y="1356856"/>
            <a:ext cx="508000" cy="250557"/>
          </a:xfrm>
          <a:prstGeom prst="rect">
            <a:avLst/>
          </a:prstGeom>
          <a:solidFill>
            <a:srgbClr val="C0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C7FB74-BA2C-4B03-B0A9-B89E531091DC}"/>
              </a:ext>
            </a:extLst>
          </p:cNvPr>
          <p:cNvSpPr txBox="1"/>
          <p:nvPr/>
        </p:nvSpPr>
        <p:spPr>
          <a:xfrm>
            <a:off x="7640320" y="1300565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profits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4958080" y="23831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market</a:t>
            </a:r>
          </a:p>
        </p:txBody>
      </p:sp>
    </p:spTree>
    <p:extLst>
      <p:ext uri="{BB962C8B-B14F-4D97-AF65-F5344CB8AC3E}">
        <p14:creationId xmlns:p14="http://schemas.microsoft.com/office/powerpoint/2010/main" val="1856468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21280" y="4143055"/>
            <a:ext cx="4616282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6878783" y="3835278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681018" y="3973778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</a:t>
            </a:r>
            <a:endParaRPr lang="en-US" sz="16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17617" y="414813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4865025" y="5886171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1,500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5554058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C9F899-FA28-45A9-AF4D-3BBFBA2D2C6E}"/>
              </a:ext>
            </a:extLst>
          </p:cNvPr>
          <p:cNvSpPr/>
          <p:nvPr/>
        </p:nvSpPr>
        <p:spPr>
          <a:xfrm>
            <a:off x="7132320" y="1356856"/>
            <a:ext cx="508000" cy="250557"/>
          </a:xfrm>
          <a:prstGeom prst="rect">
            <a:avLst/>
          </a:prstGeom>
          <a:solidFill>
            <a:srgbClr val="C0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C7FB74-BA2C-4B03-B0A9-B89E531091DC}"/>
              </a:ext>
            </a:extLst>
          </p:cNvPr>
          <p:cNvSpPr txBox="1"/>
          <p:nvPr/>
        </p:nvSpPr>
        <p:spPr>
          <a:xfrm>
            <a:off x="7640320" y="1300565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profits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9E39B9-D570-4E18-B6C9-E17FCFED9DD0}"/>
              </a:ext>
            </a:extLst>
          </p:cNvPr>
          <p:cNvCxnSpPr>
            <a:cxnSpLocks/>
          </p:cNvCxnSpPr>
          <p:nvPr/>
        </p:nvCxnSpPr>
        <p:spPr>
          <a:xfrm>
            <a:off x="2621280" y="3658146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DBB5ECB-23E6-4B82-B974-CABA0A20EB9D}"/>
              </a:ext>
            </a:extLst>
          </p:cNvPr>
          <p:cNvSpPr txBox="1"/>
          <p:nvPr/>
        </p:nvSpPr>
        <p:spPr>
          <a:xfrm>
            <a:off x="1392674" y="3485362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002CB4-B432-4ABF-A0F3-ED374CDD9274}"/>
              </a:ext>
            </a:extLst>
          </p:cNvPr>
          <p:cNvCxnSpPr>
            <a:cxnSpLocks/>
          </p:cNvCxnSpPr>
          <p:nvPr/>
        </p:nvCxnSpPr>
        <p:spPr>
          <a:xfrm flipH="1">
            <a:off x="2414911" y="365463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0D33471-9431-4F91-A91A-4A3FF4CAE49E}"/>
              </a:ext>
            </a:extLst>
          </p:cNvPr>
          <p:cNvSpPr/>
          <p:nvPr/>
        </p:nvSpPr>
        <p:spPr>
          <a:xfrm>
            <a:off x="2621280" y="3654639"/>
            <a:ext cx="2936240" cy="497146"/>
          </a:xfrm>
          <a:prstGeom prst="rect">
            <a:avLst/>
          </a:pr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F464AF1-D8E0-48AC-8AFC-8441645670FC}"/>
              </a:ext>
            </a:extLst>
          </p:cNvPr>
          <p:cNvCxnSpPr>
            <a:cxnSpLocks/>
          </p:cNvCxnSpPr>
          <p:nvPr/>
        </p:nvCxnSpPr>
        <p:spPr>
          <a:xfrm>
            <a:off x="5559832" y="3654639"/>
            <a:ext cx="0" cy="20977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46F7ECD-A651-42AD-9A77-B869CEA52B81}"/>
              </a:ext>
            </a:extLst>
          </p:cNvPr>
          <p:cNvSpPr txBox="1"/>
          <p:nvPr/>
        </p:nvSpPr>
        <p:spPr>
          <a:xfrm>
            <a:off x="5441143" y="294721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market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442157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21280" y="4143055"/>
            <a:ext cx="4616282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21280" y="1574801"/>
            <a:ext cx="2336800" cy="41655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6878783" y="3835278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897120" y="5364481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681018" y="3973778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17617" y="414813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4051301" y="2879646"/>
            <a:ext cx="0" cy="287271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36521" y="2844841"/>
            <a:ext cx="1414780" cy="20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1404734" y="2669330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594563" y="5891918"/>
            <a:ext cx="10731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3,000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990342" y="4074473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</a:t>
            </a:r>
            <a:endParaRPr lang="en-US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E004E5-1374-4155-A395-3ACB1A6DB997}"/>
              </a:ext>
            </a:extLst>
          </p:cNvPr>
          <p:cNvCxnSpPr>
            <a:cxnSpLocks/>
          </p:cNvCxnSpPr>
          <p:nvPr/>
        </p:nvCxnSpPr>
        <p:spPr>
          <a:xfrm flipH="1">
            <a:off x="2417619" y="282359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4051302" y="5740318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8FB1A5-EEA6-4930-A212-5521C2FDBAA7}"/>
              </a:ext>
            </a:extLst>
          </p:cNvPr>
          <p:cNvSpPr/>
          <p:nvPr/>
        </p:nvSpPr>
        <p:spPr>
          <a:xfrm>
            <a:off x="2604656" y="2823598"/>
            <a:ext cx="1446646" cy="1323529"/>
          </a:xfrm>
          <a:custGeom>
            <a:avLst/>
            <a:gdLst>
              <a:gd name="connsiteX0" fmla="*/ 9236 w 1459345"/>
              <a:gd name="connsiteY0" fmla="*/ 0 h 1311563"/>
              <a:gd name="connsiteX1" fmla="*/ 1459345 w 1459345"/>
              <a:gd name="connsiteY1" fmla="*/ 18472 h 1311563"/>
              <a:gd name="connsiteX2" fmla="*/ 1440872 w 1459345"/>
              <a:gd name="connsiteY2" fmla="*/ 1293091 h 1311563"/>
              <a:gd name="connsiteX3" fmla="*/ 36945 w 1459345"/>
              <a:gd name="connsiteY3" fmla="*/ 1302327 h 1311563"/>
              <a:gd name="connsiteX4" fmla="*/ 0 w 1459345"/>
              <a:gd name="connsiteY4" fmla="*/ 1311563 h 1311563"/>
              <a:gd name="connsiteX5" fmla="*/ 9236 w 1459345"/>
              <a:gd name="connsiteY5" fmla="*/ 0 h 131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9345" h="1311563">
                <a:moveTo>
                  <a:pt x="9236" y="0"/>
                </a:moveTo>
                <a:lnTo>
                  <a:pt x="1459345" y="18472"/>
                </a:lnTo>
                <a:lnTo>
                  <a:pt x="1440872" y="1293091"/>
                </a:lnTo>
                <a:lnTo>
                  <a:pt x="36945" y="1302327"/>
                </a:lnTo>
                <a:lnTo>
                  <a:pt x="0" y="1311563"/>
                </a:lnTo>
                <a:cubicBezTo>
                  <a:pt x="3079" y="874375"/>
                  <a:pt x="6157" y="437188"/>
                  <a:pt x="9236" y="0"/>
                </a:cubicBezTo>
                <a:close/>
              </a:path>
            </a:pathLst>
          </a:cu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C9F899-FA28-45A9-AF4D-3BBFBA2D2C6E}"/>
              </a:ext>
            </a:extLst>
          </p:cNvPr>
          <p:cNvSpPr/>
          <p:nvPr/>
        </p:nvSpPr>
        <p:spPr>
          <a:xfrm>
            <a:off x="7132320" y="1356856"/>
            <a:ext cx="508000" cy="250557"/>
          </a:xfrm>
          <a:prstGeom prst="rect">
            <a:avLst/>
          </a:prstGeom>
          <a:solidFill>
            <a:srgbClr val="C0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C7FB74-BA2C-4B03-B0A9-B89E531091DC}"/>
              </a:ext>
            </a:extLst>
          </p:cNvPr>
          <p:cNvSpPr txBox="1"/>
          <p:nvPr/>
        </p:nvSpPr>
        <p:spPr>
          <a:xfrm>
            <a:off x="7640320" y="1300565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profits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3990342" y="238313"/>
            <a:ext cx="4533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&amp; MEDICAID market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8FECB7-9070-4E41-8990-B3F946AE4195}"/>
              </a:ext>
            </a:extLst>
          </p:cNvPr>
          <p:cNvSpPr txBox="1"/>
          <p:nvPr/>
        </p:nvSpPr>
        <p:spPr>
          <a:xfrm>
            <a:off x="1308105" y="3485362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948C9C-B116-4692-B3F6-BAD4E34BDD19}"/>
              </a:ext>
            </a:extLst>
          </p:cNvPr>
          <p:cNvCxnSpPr>
            <a:cxnSpLocks/>
          </p:cNvCxnSpPr>
          <p:nvPr/>
        </p:nvCxnSpPr>
        <p:spPr>
          <a:xfrm flipH="1">
            <a:off x="2414911" y="365463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E2506D1-2479-4F0D-AAFA-9984C6B4A619}"/>
              </a:ext>
            </a:extLst>
          </p:cNvPr>
          <p:cNvCxnSpPr>
            <a:cxnSpLocks/>
          </p:cNvCxnSpPr>
          <p:nvPr/>
        </p:nvCxnSpPr>
        <p:spPr>
          <a:xfrm>
            <a:off x="2621280" y="3658146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B76596-09A5-4D6D-82CC-FBCEA33E2370}"/>
              </a:ext>
            </a:extLst>
          </p:cNvPr>
          <p:cNvSpPr txBox="1"/>
          <p:nvPr/>
        </p:nvSpPr>
        <p:spPr>
          <a:xfrm>
            <a:off x="4865025" y="5886171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4,500</a:t>
            </a:r>
            <a:endParaRPr lang="en-US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8021A1-32E1-4F2F-BF4A-62473469FB2D}"/>
              </a:ext>
            </a:extLst>
          </p:cNvPr>
          <p:cNvCxnSpPr>
            <a:cxnSpLocks/>
          </p:cNvCxnSpPr>
          <p:nvPr/>
        </p:nvCxnSpPr>
        <p:spPr>
          <a:xfrm flipV="1">
            <a:off x="5554058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47562A-BCF0-4E57-89A1-80B5C2203797}"/>
              </a:ext>
            </a:extLst>
          </p:cNvPr>
          <p:cNvCxnSpPr>
            <a:cxnSpLocks/>
          </p:cNvCxnSpPr>
          <p:nvPr/>
        </p:nvCxnSpPr>
        <p:spPr>
          <a:xfrm>
            <a:off x="5559832" y="3654639"/>
            <a:ext cx="0" cy="20977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53437773-D303-4D4B-859B-8DDE37C1E74C}"/>
              </a:ext>
            </a:extLst>
          </p:cNvPr>
          <p:cNvSpPr/>
          <p:nvPr/>
        </p:nvSpPr>
        <p:spPr>
          <a:xfrm rot="16200000">
            <a:off x="4665876" y="5593017"/>
            <a:ext cx="273607" cy="1502757"/>
          </a:xfrm>
          <a:prstGeom prst="leftBrace">
            <a:avLst>
              <a:gd name="adj1" fmla="val 90178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E09B1D-B0FD-4455-B79C-F47D125FB462}"/>
              </a:ext>
            </a:extLst>
          </p:cNvPr>
          <p:cNvSpPr txBox="1"/>
          <p:nvPr/>
        </p:nvSpPr>
        <p:spPr>
          <a:xfrm>
            <a:off x="3951347" y="6450410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1,500</a:t>
            </a:r>
            <a:endParaRPr lang="en-US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BFFDAA7-F528-4FC9-9446-27B03F913D3E}"/>
              </a:ext>
            </a:extLst>
          </p:cNvPr>
          <p:cNvSpPr/>
          <p:nvPr/>
        </p:nvSpPr>
        <p:spPr>
          <a:xfrm>
            <a:off x="4044692" y="3654638"/>
            <a:ext cx="1509366" cy="497146"/>
          </a:xfrm>
          <a:prstGeom prst="rect">
            <a:avLst/>
          </a:pr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692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21280" y="4143055"/>
            <a:ext cx="4616282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6878783" y="411507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681018" y="3973778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</a:t>
            </a:r>
            <a:endParaRPr lang="en-US" sz="16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17617" y="414813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4865025" y="5886171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1,500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5554058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C9F899-FA28-45A9-AF4D-3BBFBA2D2C6E}"/>
              </a:ext>
            </a:extLst>
          </p:cNvPr>
          <p:cNvSpPr/>
          <p:nvPr/>
        </p:nvSpPr>
        <p:spPr>
          <a:xfrm>
            <a:off x="7132320" y="1356856"/>
            <a:ext cx="508000" cy="250557"/>
          </a:xfrm>
          <a:prstGeom prst="rect">
            <a:avLst/>
          </a:prstGeom>
          <a:solidFill>
            <a:srgbClr val="C0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C7FB74-BA2C-4B03-B0A9-B89E531091DC}"/>
              </a:ext>
            </a:extLst>
          </p:cNvPr>
          <p:cNvSpPr txBox="1"/>
          <p:nvPr/>
        </p:nvSpPr>
        <p:spPr>
          <a:xfrm>
            <a:off x="7640320" y="1300565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profits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09E39B9-D570-4E18-B6C9-E17FCFED9DD0}"/>
              </a:ext>
            </a:extLst>
          </p:cNvPr>
          <p:cNvCxnSpPr>
            <a:cxnSpLocks/>
          </p:cNvCxnSpPr>
          <p:nvPr/>
        </p:nvCxnSpPr>
        <p:spPr>
          <a:xfrm>
            <a:off x="2621280" y="3658146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DBB5ECB-23E6-4B82-B974-CABA0A20EB9D}"/>
              </a:ext>
            </a:extLst>
          </p:cNvPr>
          <p:cNvSpPr txBox="1"/>
          <p:nvPr/>
        </p:nvSpPr>
        <p:spPr>
          <a:xfrm>
            <a:off x="1302330" y="3438006"/>
            <a:ext cx="1487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8002CB4-B432-4ABF-A0F3-ED374CDD9274}"/>
              </a:ext>
            </a:extLst>
          </p:cNvPr>
          <p:cNvCxnSpPr>
            <a:cxnSpLocks/>
          </p:cNvCxnSpPr>
          <p:nvPr/>
        </p:nvCxnSpPr>
        <p:spPr>
          <a:xfrm flipH="1">
            <a:off x="2414911" y="365463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0D33471-9431-4F91-A91A-4A3FF4CAE49E}"/>
              </a:ext>
            </a:extLst>
          </p:cNvPr>
          <p:cNvSpPr/>
          <p:nvPr/>
        </p:nvSpPr>
        <p:spPr>
          <a:xfrm>
            <a:off x="2621279" y="3916905"/>
            <a:ext cx="2955635" cy="234880"/>
          </a:xfrm>
          <a:prstGeom prst="rect">
            <a:avLst/>
          </a:pr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F464AF1-D8E0-48AC-8AFC-8441645670FC}"/>
              </a:ext>
            </a:extLst>
          </p:cNvPr>
          <p:cNvCxnSpPr>
            <a:cxnSpLocks/>
          </p:cNvCxnSpPr>
          <p:nvPr/>
        </p:nvCxnSpPr>
        <p:spPr>
          <a:xfrm>
            <a:off x="5559832" y="3654639"/>
            <a:ext cx="0" cy="20977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46F7ECD-A651-42AD-9A77-B869CEA52B81}"/>
              </a:ext>
            </a:extLst>
          </p:cNvPr>
          <p:cNvSpPr txBox="1"/>
          <p:nvPr/>
        </p:nvSpPr>
        <p:spPr>
          <a:xfrm>
            <a:off x="5441143" y="294721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market</a:t>
            </a:r>
            <a:endParaRPr lang="en-US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5E4FC8-47A7-44D8-B2B1-022DB6CF2FE7}"/>
              </a:ext>
            </a:extLst>
          </p:cNvPr>
          <p:cNvSpPr txBox="1"/>
          <p:nvPr/>
        </p:nvSpPr>
        <p:spPr>
          <a:xfrm>
            <a:off x="920927" y="3733935"/>
            <a:ext cx="1487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 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2,200</a:t>
            </a:r>
            <a:endParaRPr lang="en-US" sz="16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C87035A-4DA3-4BCA-804B-103595C1EED8}"/>
              </a:ext>
            </a:extLst>
          </p:cNvPr>
          <p:cNvCxnSpPr>
            <a:cxnSpLocks/>
          </p:cNvCxnSpPr>
          <p:nvPr/>
        </p:nvCxnSpPr>
        <p:spPr>
          <a:xfrm>
            <a:off x="2607941" y="3903212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lg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19A8AC-62D7-4C11-9905-A9EA929E5F4E}"/>
              </a:ext>
            </a:extLst>
          </p:cNvPr>
          <p:cNvCxnSpPr>
            <a:cxnSpLocks/>
          </p:cNvCxnSpPr>
          <p:nvPr/>
        </p:nvCxnSpPr>
        <p:spPr>
          <a:xfrm flipH="1">
            <a:off x="2417617" y="390321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2977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>
            <a:off x="2621280" y="4143055"/>
            <a:ext cx="4616282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21280" y="1574801"/>
            <a:ext cx="2336800" cy="4165598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6844671" y="4080517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897120" y="5364481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1681018" y="3973778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17617" y="414813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4051301" y="2879646"/>
            <a:ext cx="0" cy="287271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36521" y="2844841"/>
            <a:ext cx="1414780" cy="20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1356013" y="2660272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594563" y="5891918"/>
            <a:ext cx="10731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3,000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990342" y="4074473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</a:t>
            </a:r>
            <a:endParaRPr lang="en-US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E004E5-1374-4155-A395-3ACB1A6DB997}"/>
              </a:ext>
            </a:extLst>
          </p:cNvPr>
          <p:cNvCxnSpPr>
            <a:cxnSpLocks/>
          </p:cNvCxnSpPr>
          <p:nvPr/>
        </p:nvCxnSpPr>
        <p:spPr>
          <a:xfrm flipH="1">
            <a:off x="2417619" y="282359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4051302" y="5740318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28FB1A5-EEA6-4930-A212-5521C2FDBAA7}"/>
              </a:ext>
            </a:extLst>
          </p:cNvPr>
          <p:cNvSpPr/>
          <p:nvPr/>
        </p:nvSpPr>
        <p:spPr>
          <a:xfrm>
            <a:off x="2604656" y="2823598"/>
            <a:ext cx="1446646" cy="1323529"/>
          </a:xfrm>
          <a:custGeom>
            <a:avLst/>
            <a:gdLst>
              <a:gd name="connsiteX0" fmla="*/ 9236 w 1459345"/>
              <a:gd name="connsiteY0" fmla="*/ 0 h 1311563"/>
              <a:gd name="connsiteX1" fmla="*/ 1459345 w 1459345"/>
              <a:gd name="connsiteY1" fmla="*/ 18472 h 1311563"/>
              <a:gd name="connsiteX2" fmla="*/ 1440872 w 1459345"/>
              <a:gd name="connsiteY2" fmla="*/ 1293091 h 1311563"/>
              <a:gd name="connsiteX3" fmla="*/ 36945 w 1459345"/>
              <a:gd name="connsiteY3" fmla="*/ 1302327 h 1311563"/>
              <a:gd name="connsiteX4" fmla="*/ 0 w 1459345"/>
              <a:gd name="connsiteY4" fmla="*/ 1311563 h 1311563"/>
              <a:gd name="connsiteX5" fmla="*/ 9236 w 1459345"/>
              <a:gd name="connsiteY5" fmla="*/ 0 h 131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9345" h="1311563">
                <a:moveTo>
                  <a:pt x="9236" y="0"/>
                </a:moveTo>
                <a:lnTo>
                  <a:pt x="1459345" y="18472"/>
                </a:lnTo>
                <a:lnTo>
                  <a:pt x="1440872" y="1293091"/>
                </a:lnTo>
                <a:lnTo>
                  <a:pt x="36945" y="1302327"/>
                </a:lnTo>
                <a:lnTo>
                  <a:pt x="0" y="1311563"/>
                </a:lnTo>
                <a:cubicBezTo>
                  <a:pt x="3079" y="874375"/>
                  <a:pt x="6157" y="437188"/>
                  <a:pt x="9236" y="0"/>
                </a:cubicBezTo>
                <a:close/>
              </a:path>
            </a:pathLst>
          </a:cu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C9F899-FA28-45A9-AF4D-3BBFBA2D2C6E}"/>
              </a:ext>
            </a:extLst>
          </p:cNvPr>
          <p:cNvSpPr/>
          <p:nvPr/>
        </p:nvSpPr>
        <p:spPr>
          <a:xfrm>
            <a:off x="7132320" y="1356856"/>
            <a:ext cx="508000" cy="250557"/>
          </a:xfrm>
          <a:prstGeom prst="rect">
            <a:avLst/>
          </a:prstGeom>
          <a:solidFill>
            <a:srgbClr val="C00000">
              <a:alpha val="44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C7FB74-BA2C-4B03-B0A9-B89E531091DC}"/>
              </a:ext>
            </a:extLst>
          </p:cNvPr>
          <p:cNvSpPr txBox="1"/>
          <p:nvPr/>
        </p:nvSpPr>
        <p:spPr>
          <a:xfrm>
            <a:off x="7640320" y="1300565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profits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3990342" y="238313"/>
            <a:ext cx="45338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&amp; MEDICAID market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8FECB7-9070-4E41-8990-B3F946AE4195}"/>
              </a:ext>
            </a:extLst>
          </p:cNvPr>
          <p:cNvSpPr txBox="1"/>
          <p:nvPr/>
        </p:nvSpPr>
        <p:spPr>
          <a:xfrm>
            <a:off x="1291769" y="3475655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948C9C-B116-4692-B3F6-BAD4E34BDD19}"/>
              </a:ext>
            </a:extLst>
          </p:cNvPr>
          <p:cNvCxnSpPr>
            <a:cxnSpLocks/>
          </p:cNvCxnSpPr>
          <p:nvPr/>
        </p:nvCxnSpPr>
        <p:spPr>
          <a:xfrm flipH="1">
            <a:off x="2414911" y="365463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E2506D1-2479-4F0D-AAFA-9984C6B4A619}"/>
              </a:ext>
            </a:extLst>
          </p:cNvPr>
          <p:cNvCxnSpPr>
            <a:cxnSpLocks/>
          </p:cNvCxnSpPr>
          <p:nvPr/>
        </p:nvCxnSpPr>
        <p:spPr>
          <a:xfrm>
            <a:off x="2621280" y="3658146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B76596-09A5-4D6D-82CC-FBCEA33E2370}"/>
              </a:ext>
            </a:extLst>
          </p:cNvPr>
          <p:cNvSpPr txBox="1"/>
          <p:nvPr/>
        </p:nvSpPr>
        <p:spPr>
          <a:xfrm>
            <a:off x="4865025" y="5886171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4,500</a:t>
            </a:r>
            <a:endParaRPr lang="en-US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8021A1-32E1-4F2F-BF4A-62473469FB2D}"/>
              </a:ext>
            </a:extLst>
          </p:cNvPr>
          <p:cNvCxnSpPr>
            <a:cxnSpLocks/>
          </p:cNvCxnSpPr>
          <p:nvPr/>
        </p:nvCxnSpPr>
        <p:spPr>
          <a:xfrm flipV="1">
            <a:off x="5554058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47562A-BCF0-4E57-89A1-80B5C2203797}"/>
              </a:ext>
            </a:extLst>
          </p:cNvPr>
          <p:cNvCxnSpPr>
            <a:cxnSpLocks/>
          </p:cNvCxnSpPr>
          <p:nvPr/>
        </p:nvCxnSpPr>
        <p:spPr>
          <a:xfrm>
            <a:off x="5559832" y="3654639"/>
            <a:ext cx="0" cy="20977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53437773-D303-4D4B-859B-8DDE37C1E74C}"/>
              </a:ext>
            </a:extLst>
          </p:cNvPr>
          <p:cNvSpPr/>
          <p:nvPr/>
        </p:nvSpPr>
        <p:spPr>
          <a:xfrm rot="16200000">
            <a:off x="4665876" y="5593017"/>
            <a:ext cx="273607" cy="1502757"/>
          </a:xfrm>
          <a:prstGeom prst="leftBrace">
            <a:avLst>
              <a:gd name="adj1" fmla="val 90178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E09B1D-B0FD-4455-B79C-F47D125FB462}"/>
              </a:ext>
            </a:extLst>
          </p:cNvPr>
          <p:cNvSpPr txBox="1"/>
          <p:nvPr/>
        </p:nvSpPr>
        <p:spPr>
          <a:xfrm>
            <a:off x="3951347" y="6450410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1,500</a:t>
            </a:r>
            <a:endParaRPr lang="en-US" sz="16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BFFDAA7-F528-4FC9-9446-27B03F913D3E}"/>
              </a:ext>
            </a:extLst>
          </p:cNvPr>
          <p:cNvSpPr/>
          <p:nvPr/>
        </p:nvSpPr>
        <p:spPr>
          <a:xfrm>
            <a:off x="4044692" y="3916904"/>
            <a:ext cx="1509366" cy="234879"/>
          </a:xfrm>
          <a:prstGeom prst="rect">
            <a:avLst/>
          </a:prstGeom>
          <a:solidFill>
            <a:srgbClr val="C00000">
              <a:alpha val="4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055A7E-D952-4A8D-8A29-0F4E499FF2C2}"/>
              </a:ext>
            </a:extLst>
          </p:cNvPr>
          <p:cNvSpPr txBox="1"/>
          <p:nvPr/>
        </p:nvSpPr>
        <p:spPr>
          <a:xfrm>
            <a:off x="920927" y="3733935"/>
            <a:ext cx="1487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 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2,200</a:t>
            </a:r>
            <a:endParaRPr lang="en-US" sz="16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F38FFBD-2717-4645-8FA7-88CBE3E93A50}"/>
              </a:ext>
            </a:extLst>
          </p:cNvPr>
          <p:cNvCxnSpPr>
            <a:cxnSpLocks/>
          </p:cNvCxnSpPr>
          <p:nvPr/>
        </p:nvCxnSpPr>
        <p:spPr>
          <a:xfrm>
            <a:off x="2607941" y="3903212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lg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7138CE2-5544-4592-89B3-4098338E87BF}"/>
              </a:ext>
            </a:extLst>
          </p:cNvPr>
          <p:cNvCxnSpPr>
            <a:cxnSpLocks/>
          </p:cNvCxnSpPr>
          <p:nvPr/>
        </p:nvCxnSpPr>
        <p:spPr>
          <a:xfrm flipH="1">
            <a:off x="2417617" y="390321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529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 flipV="1">
            <a:off x="2590800" y="2685934"/>
            <a:ext cx="3901440" cy="2439618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11583" y="1544449"/>
            <a:ext cx="2268859" cy="418390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6461760" y="2304448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852500" y="5392689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4051301" y="2879646"/>
            <a:ext cx="0" cy="287271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36521" y="2844841"/>
            <a:ext cx="1414780" cy="20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1404734" y="2669330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853676" y="5837009"/>
            <a:ext cx="8410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3,000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968529" y="4124941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428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 if markets were independent</a:t>
            </a:r>
            <a:endParaRPr lang="en-US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E004E5-1374-4155-A395-3ACB1A6DB997}"/>
              </a:ext>
            </a:extLst>
          </p:cNvPr>
          <p:cNvCxnSpPr>
            <a:cxnSpLocks/>
          </p:cNvCxnSpPr>
          <p:nvPr/>
        </p:nvCxnSpPr>
        <p:spPr>
          <a:xfrm flipH="1">
            <a:off x="2417619" y="282359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4051302" y="5740318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3990342" y="238313"/>
            <a:ext cx="6342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&amp; MEDICAID market: inter-dependent cost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8FECB7-9070-4E41-8990-B3F946AE4195}"/>
              </a:ext>
            </a:extLst>
          </p:cNvPr>
          <p:cNvSpPr txBox="1"/>
          <p:nvPr/>
        </p:nvSpPr>
        <p:spPr>
          <a:xfrm>
            <a:off x="1308105" y="3610241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948C9C-B116-4692-B3F6-BAD4E34BDD19}"/>
              </a:ext>
            </a:extLst>
          </p:cNvPr>
          <p:cNvCxnSpPr>
            <a:cxnSpLocks/>
          </p:cNvCxnSpPr>
          <p:nvPr/>
        </p:nvCxnSpPr>
        <p:spPr>
          <a:xfrm flipH="1">
            <a:off x="2414911" y="3779518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E2506D1-2479-4F0D-AAFA-9984C6B4A619}"/>
              </a:ext>
            </a:extLst>
          </p:cNvPr>
          <p:cNvCxnSpPr>
            <a:cxnSpLocks/>
          </p:cNvCxnSpPr>
          <p:nvPr/>
        </p:nvCxnSpPr>
        <p:spPr>
          <a:xfrm>
            <a:off x="2621280" y="3783025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B76596-09A5-4D6D-82CC-FBCEA33E2370}"/>
              </a:ext>
            </a:extLst>
          </p:cNvPr>
          <p:cNvSpPr txBox="1"/>
          <p:nvPr/>
        </p:nvSpPr>
        <p:spPr>
          <a:xfrm>
            <a:off x="4564268" y="5818561"/>
            <a:ext cx="1827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  <a:p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4,000</a:t>
            </a:r>
            <a:endParaRPr lang="en-US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8021A1-32E1-4F2F-BF4A-62473469FB2D}"/>
              </a:ext>
            </a:extLst>
          </p:cNvPr>
          <p:cNvCxnSpPr>
            <a:cxnSpLocks/>
          </p:cNvCxnSpPr>
          <p:nvPr/>
        </p:nvCxnSpPr>
        <p:spPr>
          <a:xfrm flipV="1">
            <a:off x="4712712" y="5731993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47562A-BCF0-4E57-89A1-80B5C2203797}"/>
              </a:ext>
            </a:extLst>
          </p:cNvPr>
          <p:cNvCxnSpPr>
            <a:cxnSpLocks/>
          </p:cNvCxnSpPr>
          <p:nvPr/>
        </p:nvCxnSpPr>
        <p:spPr>
          <a:xfrm>
            <a:off x="4714240" y="3779518"/>
            <a:ext cx="0" cy="195548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2DF7622-ECD7-4336-933B-A83E1F54CF35}"/>
              </a:ext>
            </a:extLst>
          </p:cNvPr>
          <p:cNvSpPr txBox="1"/>
          <p:nvPr/>
        </p:nvSpPr>
        <p:spPr>
          <a:xfrm>
            <a:off x="1767840" y="493656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US" sz="16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DA98A4-9753-4E09-8203-F0137314D1B6}"/>
              </a:ext>
            </a:extLst>
          </p:cNvPr>
          <p:cNvCxnSpPr>
            <a:cxnSpLocks/>
          </p:cNvCxnSpPr>
          <p:nvPr/>
        </p:nvCxnSpPr>
        <p:spPr>
          <a:xfrm flipH="1">
            <a:off x="2394995" y="511092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Oval 57">
            <a:extLst>
              <a:ext uri="{FF2B5EF4-FFF2-40B4-BE49-F238E27FC236}">
                <a16:creationId xmlns:a16="http://schemas.microsoft.com/office/drawing/2014/main" id="{5F1A2307-50D7-492D-A32C-B497C9749767}"/>
              </a:ext>
            </a:extLst>
          </p:cNvPr>
          <p:cNvSpPr/>
          <p:nvPr/>
        </p:nvSpPr>
        <p:spPr>
          <a:xfrm>
            <a:off x="3705071" y="366266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6E125E-C8B1-442B-BA7A-039E25CC7881}"/>
              </a:ext>
            </a:extLst>
          </p:cNvPr>
          <p:cNvSpPr/>
          <p:nvPr/>
        </p:nvSpPr>
        <p:spPr>
          <a:xfrm>
            <a:off x="7375232" y="1665688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E040D1-EBA8-4C83-809D-3D44BAE8FB11}"/>
              </a:ext>
            </a:extLst>
          </p:cNvPr>
          <p:cNvSpPr txBox="1"/>
          <p:nvPr/>
        </p:nvSpPr>
        <p:spPr>
          <a:xfrm>
            <a:off x="7823201" y="1519882"/>
            <a:ext cx="428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60592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 flipV="1">
            <a:off x="2590800" y="2685934"/>
            <a:ext cx="3901440" cy="2439618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11583" y="1544449"/>
            <a:ext cx="2268859" cy="418390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6461760" y="2304448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274181" y="5373894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4051301" y="2879646"/>
            <a:ext cx="0" cy="287271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36521" y="2844841"/>
            <a:ext cx="1414780" cy="20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1404734" y="2669330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853676" y="5837009"/>
            <a:ext cx="8410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3,000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968529" y="4124941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428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 if markets were independent</a:t>
            </a:r>
            <a:endParaRPr lang="en-US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E004E5-1374-4155-A395-3ACB1A6DB997}"/>
              </a:ext>
            </a:extLst>
          </p:cNvPr>
          <p:cNvCxnSpPr>
            <a:cxnSpLocks/>
          </p:cNvCxnSpPr>
          <p:nvPr/>
        </p:nvCxnSpPr>
        <p:spPr>
          <a:xfrm flipH="1">
            <a:off x="2417619" y="282359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4051302" y="5740318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3990342" y="238313"/>
            <a:ext cx="6342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&amp; MEDICAID market: inter-dependent cost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8FECB7-9070-4E41-8990-B3F946AE4195}"/>
              </a:ext>
            </a:extLst>
          </p:cNvPr>
          <p:cNvSpPr txBox="1"/>
          <p:nvPr/>
        </p:nvSpPr>
        <p:spPr>
          <a:xfrm>
            <a:off x="1308105" y="3610241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948C9C-B116-4692-B3F6-BAD4E34BDD19}"/>
              </a:ext>
            </a:extLst>
          </p:cNvPr>
          <p:cNvCxnSpPr>
            <a:cxnSpLocks/>
          </p:cNvCxnSpPr>
          <p:nvPr/>
        </p:nvCxnSpPr>
        <p:spPr>
          <a:xfrm flipH="1">
            <a:off x="2414911" y="3779518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E2506D1-2479-4F0D-AAFA-9984C6B4A619}"/>
              </a:ext>
            </a:extLst>
          </p:cNvPr>
          <p:cNvCxnSpPr>
            <a:cxnSpLocks/>
          </p:cNvCxnSpPr>
          <p:nvPr/>
        </p:nvCxnSpPr>
        <p:spPr>
          <a:xfrm>
            <a:off x="2621280" y="3783025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B76596-09A5-4D6D-82CC-FBCEA33E2370}"/>
              </a:ext>
            </a:extLst>
          </p:cNvPr>
          <p:cNvSpPr txBox="1"/>
          <p:nvPr/>
        </p:nvSpPr>
        <p:spPr>
          <a:xfrm>
            <a:off x="4564268" y="5818561"/>
            <a:ext cx="1827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  <a:p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4,000</a:t>
            </a:r>
            <a:endParaRPr lang="en-US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8021A1-32E1-4F2F-BF4A-62473469FB2D}"/>
              </a:ext>
            </a:extLst>
          </p:cNvPr>
          <p:cNvCxnSpPr>
            <a:cxnSpLocks/>
          </p:cNvCxnSpPr>
          <p:nvPr/>
        </p:nvCxnSpPr>
        <p:spPr>
          <a:xfrm flipV="1">
            <a:off x="4712712" y="5731993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47562A-BCF0-4E57-89A1-80B5C2203797}"/>
              </a:ext>
            </a:extLst>
          </p:cNvPr>
          <p:cNvCxnSpPr>
            <a:cxnSpLocks/>
          </p:cNvCxnSpPr>
          <p:nvPr/>
        </p:nvCxnSpPr>
        <p:spPr>
          <a:xfrm>
            <a:off x="4714240" y="3779518"/>
            <a:ext cx="0" cy="195548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53437773-D303-4D4B-859B-8DDE37C1E74C}"/>
              </a:ext>
            </a:extLst>
          </p:cNvPr>
          <p:cNvSpPr/>
          <p:nvPr/>
        </p:nvSpPr>
        <p:spPr>
          <a:xfrm rot="16200000">
            <a:off x="4286918" y="5889655"/>
            <a:ext cx="253119" cy="1226353"/>
          </a:xfrm>
          <a:prstGeom prst="leftBrace">
            <a:avLst>
              <a:gd name="adj1" fmla="val 90178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E09B1D-B0FD-4455-B79C-F47D125FB462}"/>
              </a:ext>
            </a:extLst>
          </p:cNvPr>
          <p:cNvSpPr txBox="1"/>
          <p:nvPr/>
        </p:nvSpPr>
        <p:spPr>
          <a:xfrm>
            <a:off x="3597721" y="6567723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1,500</a:t>
            </a:r>
            <a:endParaRPr 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DF7622-ECD7-4336-933B-A83E1F54CF35}"/>
              </a:ext>
            </a:extLst>
          </p:cNvPr>
          <p:cNvSpPr txBox="1"/>
          <p:nvPr/>
        </p:nvSpPr>
        <p:spPr>
          <a:xfrm>
            <a:off x="1767840" y="493656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US" sz="16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DA98A4-9753-4E09-8203-F0137314D1B6}"/>
              </a:ext>
            </a:extLst>
          </p:cNvPr>
          <p:cNvCxnSpPr>
            <a:cxnSpLocks/>
          </p:cNvCxnSpPr>
          <p:nvPr/>
        </p:nvCxnSpPr>
        <p:spPr>
          <a:xfrm flipH="1">
            <a:off x="2394995" y="511092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1CC9-4214-41A4-8E50-860CD8E0AFB0}"/>
              </a:ext>
            </a:extLst>
          </p:cNvPr>
          <p:cNvCxnSpPr>
            <a:cxnSpLocks/>
          </p:cNvCxnSpPr>
          <p:nvPr/>
        </p:nvCxnSpPr>
        <p:spPr>
          <a:xfrm>
            <a:off x="2630117" y="1508221"/>
            <a:ext cx="1192739" cy="2182456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DB06FE0-70F4-4873-89C2-93C8A7B6C024}"/>
              </a:ext>
            </a:extLst>
          </p:cNvPr>
          <p:cNvCxnSpPr>
            <a:cxnSpLocks/>
          </p:cNvCxnSpPr>
          <p:nvPr/>
        </p:nvCxnSpPr>
        <p:spPr>
          <a:xfrm>
            <a:off x="3862696" y="3749040"/>
            <a:ext cx="1134471" cy="5841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340F1E-6A3D-4618-9D9F-2FB67409BF11}"/>
              </a:ext>
            </a:extLst>
          </p:cNvPr>
          <p:cNvCxnSpPr>
            <a:cxnSpLocks/>
          </p:cNvCxnSpPr>
          <p:nvPr/>
        </p:nvCxnSpPr>
        <p:spPr>
          <a:xfrm>
            <a:off x="5005266" y="3751492"/>
            <a:ext cx="1437417" cy="1984876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4EDB53C-479B-43D4-B441-86E2B122275D}"/>
              </a:ext>
            </a:extLst>
          </p:cNvPr>
          <p:cNvSpPr txBox="1"/>
          <p:nvPr/>
        </p:nvSpPr>
        <p:spPr>
          <a:xfrm>
            <a:off x="5709264" y="5392689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MR’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F1A2307-50D7-492D-A32C-B497C9749767}"/>
              </a:ext>
            </a:extLst>
          </p:cNvPr>
          <p:cNvSpPr/>
          <p:nvPr/>
        </p:nvSpPr>
        <p:spPr>
          <a:xfrm>
            <a:off x="3705071" y="3662660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6E125E-C8B1-442B-BA7A-039E25CC7881}"/>
              </a:ext>
            </a:extLst>
          </p:cNvPr>
          <p:cNvSpPr/>
          <p:nvPr/>
        </p:nvSpPr>
        <p:spPr>
          <a:xfrm>
            <a:off x="7375232" y="1665688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E040D1-EBA8-4C83-809D-3D44BAE8FB11}"/>
              </a:ext>
            </a:extLst>
          </p:cNvPr>
          <p:cNvSpPr txBox="1"/>
          <p:nvPr/>
        </p:nvSpPr>
        <p:spPr>
          <a:xfrm>
            <a:off x="7823201" y="1519882"/>
            <a:ext cx="428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16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2FDAFEF-C330-4F84-BD7F-4C305CDF8419}"/>
              </a:ext>
            </a:extLst>
          </p:cNvPr>
          <p:cNvCxnSpPr>
            <a:cxnSpLocks/>
          </p:cNvCxnSpPr>
          <p:nvPr/>
        </p:nvCxnSpPr>
        <p:spPr>
          <a:xfrm>
            <a:off x="3775222" y="2603228"/>
            <a:ext cx="0" cy="314825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AE86AFFE-C768-4766-8A68-DF2FEA350C18}"/>
              </a:ext>
            </a:extLst>
          </p:cNvPr>
          <p:cNvSpPr txBox="1"/>
          <p:nvPr/>
        </p:nvSpPr>
        <p:spPr>
          <a:xfrm>
            <a:off x="3076365" y="5826886"/>
            <a:ext cx="8091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2,750</a:t>
            </a:r>
            <a:endParaRPr lang="en-US" sz="1600" b="1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81B6519-A88F-4358-BC34-47D461913ADD}"/>
              </a:ext>
            </a:extLst>
          </p:cNvPr>
          <p:cNvCxnSpPr>
            <a:cxnSpLocks/>
          </p:cNvCxnSpPr>
          <p:nvPr/>
        </p:nvCxnSpPr>
        <p:spPr>
          <a:xfrm flipV="1">
            <a:off x="3768090" y="575068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790B535-099E-4D00-AC0A-072951FD2E9B}"/>
              </a:ext>
            </a:extLst>
          </p:cNvPr>
          <p:cNvCxnSpPr>
            <a:cxnSpLocks/>
          </p:cNvCxnSpPr>
          <p:nvPr/>
        </p:nvCxnSpPr>
        <p:spPr>
          <a:xfrm>
            <a:off x="5005266" y="3765444"/>
            <a:ext cx="21386" cy="19627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C9E179F-0DBE-4160-A615-8ADC0EAAAB45}"/>
              </a:ext>
            </a:extLst>
          </p:cNvPr>
          <p:cNvCxnSpPr>
            <a:cxnSpLocks/>
          </p:cNvCxnSpPr>
          <p:nvPr/>
        </p:nvCxnSpPr>
        <p:spPr>
          <a:xfrm>
            <a:off x="2575560" y="2571401"/>
            <a:ext cx="1187451" cy="1051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6F9E138-2DFF-4534-B73B-E353CE3E786F}"/>
              </a:ext>
            </a:extLst>
          </p:cNvPr>
          <p:cNvSpPr txBox="1"/>
          <p:nvPr/>
        </p:nvSpPr>
        <p:spPr>
          <a:xfrm>
            <a:off x="1354161" y="2375299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5,250</a:t>
            </a:r>
            <a:endParaRPr lang="en-US" sz="1600" b="1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E10BA82-F7D5-46D9-A13D-3415183736AF}"/>
              </a:ext>
            </a:extLst>
          </p:cNvPr>
          <p:cNvCxnSpPr>
            <a:cxnSpLocks/>
          </p:cNvCxnSpPr>
          <p:nvPr/>
        </p:nvCxnSpPr>
        <p:spPr>
          <a:xfrm flipH="1">
            <a:off x="2423502" y="257070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0A40B2-EB05-45DA-8750-EF9F466BC669}"/>
              </a:ext>
            </a:extLst>
          </p:cNvPr>
          <p:cNvCxnSpPr>
            <a:cxnSpLocks/>
          </p:cNvCxnSpPr>
          <p:nvPr/>
        </p:nvCxnSpPr>
        <p:spPr>
          <a:xfrm>
            <a:off x="3821429" y="2581920"/>
            <a:ext cx="891283" cy="0"/>
          </a:xfrm>
          <a:prstGeom prst="straightConnector1">
            <a:avLst/>
          </a:prstGeom>
          <a:ln w="34925">
            <a:solidFill>
              <a:schemeClr val="bg2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635E06E-EB6C-45E8-B483-6C58CC841CD0}"/>
              </a:ext>
            </a:extLst>
          </p:cNvPr>
          <p:cNvCxnSpPr>
            <a:cxnSpLocks/>
          </p:cNvCxnSpPr>
          <p:nvPr/>
        </p:nvCxnSpPr>
        <p:spPr>
          <a:xfrm>
            <a:off x="4712712" y="2603228"/>
            <a:ext cx="0" cy="1137605"/>
          </a:xfrm>
          <a:prstGeom prst="straightConnector1">
            <a:avLst/>
          </a:prstGeom>
          <a:ln w="19050">
            <a:solidFill>
              <a:schemeClr val="accent3">
                <a:lumMod val="40000"/>
                <a:lumOff val="6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E016385-06E0-4638-8700-452A66B0D465}"/>
              </a:ext>
            </a:extLst>
          </p:cNvPr>
          <p:cNvSpPr txBox="1"/>
          <p:nvPr/>
        </p:nvSpPr>
        <p:spPr>
          <a:xfrm>
            <a:off x="3657962" y="1625632"/>
            <a:ext cx="17671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Medicaid patients admitted = 1,250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206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 flipV="1">
            <a:off x="2590800" y="2685934"/>
            <a:ext cx="3901440" cy="2439618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11583" y="1544449"/>
            <a:ext cx="2268859" cy="418390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6461760" y="2304448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852499" y="5442687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4051301" y="2879646"/>
            <a:ext cx="0" cy="287271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779478E-F2C1-4CED-8169-E59E006A289D}"/>
              </a:ext>
            </a:extLst>
          </p:cNvPr>
          <p:cNvCxnSpPr>
            <a:cxnSpLocks/>
          </p:cNvCxnSpPr>
          <p:nvPr/>
        </p:nvCxnSpPr>
        <p:spPr>
          <a:xfrm>
            <a:off x="2636521" y="2844841"/>
            <a:ext cx="1414780" cy="20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17A4D70-46EE-47A7-99BF-D69797E1CBE1}"/>
              </a:ext>
            </a:extLst>
          </p:cNvPr>
          <p:cNvSpPr txBox="1"/>
          <p:nvPr/>
        </p:nvSpPr>
        <p:spPr>
          <a:xfrm>
            <a:off x="1732322" y="2713852"/>
            <a:ext cx="446744" cy="33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459CF38-1B4B-465A-BE1E-53F583754239}"/>
              </a:ext>
            </a:extLst>
          </p:cNvPr>
          <p:cNvSpPr/>
          <p:nvPr/>
        </p:nvSpPr>
        <p:spPr>
          <a:xfrm>
            <a:off x="3968529" y="4124941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428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 if markets were independent</a:t>
            </a:r>
            <a:endParaRPr lang="en-US" sz="16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E004E5-1374-4155-A395-3ACB1A6DB997}"/>
              </a:ext>
            </a:extLst>
          </p:cNvPr>
          <p:cNvCxnSpPr>
            <a:cxnSpLocks/>
          </p:cNvCxnSpPr>
          <p:nvPr/>
        </p:nvCxnSpPr>
        <p:spPr>
          <a:xfrm flipH="1">
            <a:off x="2417619" y="282359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4051302" y="5740318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3990342" y="238313"/>
            <a:ext cx="6342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&amp; MEDICAID market: inter-dependent cost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53437773-D303-4D4B-859B-8DDE37C1E74C}"/>
              </a:ext>
            </a:extLst>
          </p:cNvPr>
          <p:cNvSpPr/>
          <p:nvPr/>
        </p:nvSpPr>
        <p:spPr>
          <a:xfrm rot="16200000">
            <a:off x="4519275" y="5763312"/>
            <a:ext cx="231398" cy="1443773"/>
          </a:xfrm>
          <a:prstGeom prst="leftBrace">
            <a:avLst>
              <a:gd name="adj1" fmla="val 90178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E09B1D-B0FD-4455-B79C-F47D125FB462}"/>
              </a:ext>
            </a:extLst>
          </p:cNvPr>
          <p:cNvSpPr txBox="1"/>
          <p:nvPr/>
        </p:nvSpPr>
        <p:spPr>
          <a:xfrm>
            <a:off x="3800562" y="6540730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1,500</a:t>
            </a:r>
            <a:endParaRPr 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DF7622-ECD7-4336-933B-A83E1F54CF35}"/>
              </a:ext>
            </a:extLst>
          </p:cNvPr>
          <p:cNvSpPr txBox="1"/>
          <p:nvPr/>
        </p:nvSpPr>
        <p:spPr>
          <a:xfrm>
            <a:off x="1767840" y="493656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US" sz="16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DA98A4-9753-4E09-8203-F0137314D1B6}"/>
              </a:ext>
            </a:extLst>
          </p:cNvPr>
          <p:cNvCxnSpPr>
            <a:cxnSpLocks/>
          </p:cNvCxnSpPr>
          <p:nvPr/>
        </p:nvCxnSpPr>
        <p:spPr>
          <a:xfrm flipH="1">
            <a:off x="2394995" y="511092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1CC9-4214-41A4-8E50-860CD8E0AFB0}"/>
              </a:ext>
            </a:extLst>
          </p:cNvPr>
          <p:cNvCxnSpPr>
            <a:cxnSpLocks/>
          </p:cNvCxnSpPr>
          <p:nvPr/>
        </p:nvCxnSpPr>
        <p:spPr>
          <a:xfrm>
            <a:off x="2645242" y="1534158"/>
            <a:ext cx="1292780" cy="2378850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DB06FE0-70F4-4873-89C2-93C8A7B6C024}"/>
              </a:ext>
            </a:extLst>
          </p:cNvPr>
          <p:cNvCxnSpPr>
            <a:cxnSpLocks/>
          </p:cNvCxnSpPr>
          <p:nvPr/>
        </p:nvCxnSpPr>
        <p:spPr>
          <a:xfrm flipV="1">
            <a:off x="3960908" y="4002694"/>
            <a:ext cx="1395952" cy="2378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4EDB53C-479B-43D4-B441-86E2B122275D}"/>
              </a:ext>
            </a:extLst>
          </p:cNvPr>
          <p:cNvSpPr txBox="1"/>
          <p:nvPr/>
        </p:nvSpPr>
        <p:spPr>
          <a:xfrm>
            <a:off x="5941404" y="5418234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MR’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F1A2307-50D7-492D-A32C-B497C9749767}"/>
              </a:ext>
            </a:extLst>
          </p:cNvPr>
          <p:cNvSpPr/>
          <p:nvPr/>
        </p:nvSpPr>
        <p:spPr>
          <a:xfrm>
            <a:off x="3862072" y="3911254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6E125E-C8B1-442B-BA7A-039E25CC7881}"/>
              </a:ext>
            </a:extLst>
          </p:cNvPr>
          <p:cNvSpPr/>
          <p:nvPr/>
        </p:nvSpPr>
        <p:spPr>
          <a:xfrm>
            <a:off x="7375232" y="1665688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E040D1-EBA8-4C83-809D-3D44BAE8FB11}"/>
              </a:ext>
            </a:extLst>
          </p:cNvPr>
          <p:cNvSpPr txBox="1"/>
          <p:nvPr/>
        </p:nvSpPr>
        <p:spPr>
          <a:xfrm>
            <a:off x="7823201" y="1519882"/>
            <a:ext cx="428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16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2FDAFEF-C330-4F84-BD7F-4C305CDF8419}"/>
              </a:ext>
            </a:extLst>
          </p:cNvPr>
          <p:cNvCxnSpPr>
            <a:cxnSpLocks/>
          </p:cNvCxnSpPr>
          <p:nvPr/>
        </p:nvCxnSpPr>
        <p:spPr>
          <a:xfrm flipH="1">
            <a:off x="3929932" y="2713853"/>
            <a:ext cx="7071" cy="3014501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81B6519-A88F-4358-BC34-47D461913ADD}"/>
              </a:ext>
            </a:extLst>
          </p:cNvPr>
          <p:cNvCxnSpPr>
            <a:cxnSpLocks/>
          </p:cNvCxnSpPr>
          <p:nvPr/>
        </p:nvCxnSpPr>
        <p:spPr>
          <a:xfrm flipV="1">
            <a:off x="3768090" y="575068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C9E179F-0DBE-4160-A615-8ADC0EAAAB45}"/>
              </a:ext>
            </a:extLst>
          </p:cNvPr>
          <p:cNvCxnSpPr>
            <a:cxnSpLocks/>
          </p:cNvCxnSpPr>
          <p:nvPr/>
        </p:nvCxnSpPr>
        <p:spPr>
          <a:xfrm>
            <a:off x="2575560" y="2571401"/>
            <a:ext cx="1187451" cy="1051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6F9E138-2DFF-4534-B73B-E353CE3E786F}"/>
              </a:ext>
            </a:extLst>
          </p:cNvPr>
          <p:cNvSpPr txBox="1"/>
          <p:nvPr/>
        </p:nvSpPr>
        <p:spPr>
          <a:xfrm>
            <a:off x="1767033" y="2264157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endParaRPr lang="en-US" sz="1600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E10BA82-F7D5-46D9-A13D-3415183736AF}"/>
              </a:ext>
            </a:extLst>
          </p:cNvPr>
          <p:cNvCxnSpPr>
            <a:cxnSpLocks/>
          </p:cNvCxnSpPr>
          <p:nvPr/>
        </p:nvCxnSpPr>
        <p:spPr>
          <a:xfrm flipH="1">
            <a:off x="2423502" y="257070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9C8A464-C386-4C97-B4DA-993898DD740E}"/>
              </a:ext>
            </a:extLst>
          </p:cNvPr>
          <p:cNvSpPr txBox="1"/>
          <p:nvPr/>
        </p:nvSpPr>
        <p:spPr>
          <a:xfrm>
            <a:off x="1008547" y="3858493"/>
            <a:ext cx="1390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2,200</a:t>
            </a:r>
            <a:endParaRPr lang="en-US" sz="160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EC85230-6F84-4DE3-BBC6-7CB0CA67E633}"/>
              </a:ext>
            </a:extLst>
          </p:cNvPr>
          <p:cNvCxnSpPr>
            <a:cxnSpLocks/>
          </p:cNvCxnSpPr>
          <p:nvPr/>
        </p:nvCxnSpPr>
        <p:spPr>
          <a:xfrm flipH="1">
            <a:off x="2436451" y="402777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BD78255-AE5C-4CC3-9E22-37F2AEE7E3DD}"/>
              </a:ext>
            </a:extLst>
          </p:cNvPr>
          <p:cNvCxnSpPr>
            <a:cxnSpLocks/>
          </p:cNvCxnSpPr>
          <p:nvPr/>
        </p:nvCxnSpPr>
        <p:spPr>
          <a:xfrm>
            <a:off x="2636520" y="4031306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prstDash val="lg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28D5137-497F-48E5-90DC-D3BEEA0646DA}"/>
              </a:ext>
            </a:extLst>
          </p:cNvPr>
          <p:cNvCxnSpPr>
            <a:cxnSpLocks/>
          </p:cNvCxnSpPr>
          <p:nvPr/>
        </p:nvCxnSpPr>
        <p:spPr>
          <a:xfrm>
            <a:off x="3768139" y="2583220"/>
            <a:ext cx="0" cy="312781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AFE8506-A325-4D76-815C-A0AEA920092B}"/>
              </a:ext>
            </a:extLst>
          </p:cNvPr>
          <p:cNvCxnSpPr>
            <a:cxnSpLocks/>
          </p:cNvCxnSpPr>
          <p:nvPr/>
        </p:nvCxnSpPr>
        <p:spPr>
          <a:xfrm flipH="1">
            <a:off x="2423502" y="2721829"/>
            <a:ext cx="182880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EB3987E-FD1C-4889-B089-5540021026BA}"/>
              </a:ext>
            </a:extLst>
          </p:cNvPr>
          <p:cNvSpPr txBox="1"/>
          <p:nvPr/>
        </p:nvSpPr>
        <p:spPr>
          <a:xfrm>
            <a:off x="1741330" y="2506287"/>
            <a:ext cx="5915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***</a:t>
            </a:r>
            <a:endParaRPr lang="en-US" sz="1600" b="1" dirty="0">
              <a:solidFill>
                <a:srgbClr val="FF0000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C7DD8F7-1476-4617-8131-4FE4DB06AB49}"/>
              </a:ext>
            </a:extLst>
          </p:cNvPr>
          <p:cNvCxnSpPr>
            <a:cxnSpLocks/>
          </p:cNvCxnSpPr>
          <p:nvPr/>
        </p:nvCxnSpPr>
        <p:spPr>
          <a:xfrm flipV="1">
            <a:off x="2606040" y="2713852"/>
            <a:ext cx="1330546" cy="7977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7E5FAE56-C63A-4065-B584-8E1F865C57A7}"/>
              </a:ext>
            </a:extLst>
          </p:cNvPr>
          <p:cNvSpPr txBox="1"/>
          <p:nvPr/>
        </p:nvSpPr>
        <p:spPr>
          <a:xfrm>
            <a:off x="3669943" y="6022720"/>
            <a:ext cx="8410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16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***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88DB13C-82C2-4CB7-B75D-498BBF423607}"/>
              </a:ext>
            </a:extLst>
          </p:cNvPr>
          <p:cNvCxnSpPr>
            <a:cxnSpLocks/>
          </p:cNvCxnSpPr>
          <p:nvPr/>
        </p:nvCxnSpPr>
        <p:spPr>
          <a:xfrm flipV="1">
            <a:off x="3929932" y="5750689"/>
            <a:ext cx="0" cy="13208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5661488-24E3-4858-82BB-DBB9EE3B3130}"/>
              </a:ext>
            </a:extLst>
          </p:cNvPr>
          <p:cNvCxnSpPr>
            <a:cxnSpLocks/>
          </p:cNvCxnSpPr>
          <p:nvPr/>
        </p:nvCxnSpPr>
        <p:spPr>
          <a:xfrm>
            <a:off x="4243701" y="3792235"/>
            <a:ext cx="0" cy="1525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ACF8CF0-6B2A-4811-A2AF-547E3DA523CF}"/>
              </a:ext>
            </a:extLst>
          </p:cNvPr>
          <p:cNvCxnSpPr>
            <a:cxnSpLocks/>
          </p:cNvCxnSpPr>
          <p:nvPr/>
        </p:nvCxnSpPr>
        <p:spPr>
          <a:xfrm>
            <a:off x="2276057" y="2602711"/>
            <a:ext cx="0" cy="1556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D21C39BD-1EDE-4BF5-8FDF-EAD2D62080F3}"/>
              </a:ext>
            </a:extLst>
          </p:cNvPr>
          <p:cNvCxnSpPr>
            <a:cxnSpLocks/>
          </p:cNvCxnSpPr>
          <p:nvPr/>
        </p:nvCxnSpPr>
        <p:spPr>
          <a:xfrm flipV="1">
            <a:off x="3763011" y="6006652"/>
            <a:ext cx="178959" cy="78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0A1A3726-DFAA-4084-8BA2-AB82EFF1344F}"/>
              </a:ext>
            </a:extLst>
          </p:cNvPr>
          <p:cNvCxnSpPr>
            <a:cxnSpLocks/>
          </p:cNvCxnSpPr>
          <p:nvPr/>
        </p:nvCxnSpPr>
        <p:spPr>
          <a:xfrm>
            <a:off x="3739464" y="3792235"/>
            <a:ext cx="97726" cy="2128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37533FDF-A352-44B0-9090-0C81A72ED9C1}"/>
              </a:ext>
            </a:extLst>
          </p:cNvPr>
          <p:cNvSpPr txBox="1"/>
          <p:nvPr/>
        </p:nvSpPr>
        <p:spPr>
          <a:xfrm>
            <a:off x="1308105" y="3610241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AD66E44-41F7-4D5D-A42F-F9C53B33ED42}"/>
              </a:ext>
            </a:extLst>
          </p:cNvPr>
          <p:cNvCxnSpPr>
            <a:cxnSpLocks/>
          </p:cNvCxnSpPr>
          <p:nvPr/>
        </p:nvCxnSpPr>
        <p:spPr>
          <a:xfrm>
            <a:off x="2621280" y="3783025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AE9A63E-664C-4FC4-9F83-41B066637979}"/>
              </a:ext>
            </a:extLst>
          </p:cNvPr>
          <p:cNvCxnSpPr>
            <a:cxnSpLocks/>
          </p:cNvCxnSpPr>
          <p:nvPr/>
        </p:nvCxnSpPr>
        <p:spPr>
          <a:xfrm>
            <a:off x="4714240" y="3779518"/>
            <a:ext cx="0" cy="195548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EEDDB7A-64EB-4AE3-BB47-BD208F959BF2}"/>
              </a:ext>
            </a:extLst>
          </p:cNvPr>
          <p:cNvCxnSpPr>
            <a:cxnSpLocks/>
          </p:cNvCxnSpPr>
          <p:nvPr/>
        </p:nvCxnSpPr>
        <p:spPr>
          <a:xfrm>
            <a:off x="3843934" y="3741345"/>
            <a:ext cx="1182718" cy="0"/>
          </a:xfrm>
          <a:prstGeom prst="line">
            <a:avLst/>
          </a:prstGeom>
          <a:ln w="41275">
            <a:solidFill>
              <a:srgbClr val="7030A0">
                <a:alpha val="5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CDD706D-D8E7-497F-AFE7-9FE52889AECC}"/>
              </a:ext>
            </a:extLst>
          </p:cNvPr>
          <p:cNvCxnSpPr>
            <a:cxnSpLocks/>
          </p:cNvCxnSpPr>
          <p:nvPr/>
        </p:nvCxnSpPr>
        <p:spPr>
          <a:xfrm>
            <a:off x="5005266" y="3751492"/>
            <a:ext cx="202592" cy="251202"/>
          </a:xfrm>
          <a:prstGeom prst="line">
            <a:avLst/>
          </a:prstGeom>
          <a:ln w="41275">
            <a:solidFill>
              <a:srgbClr val="7030A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C307216-CC26-4216-BC9C-4F936CE33912}"/>
              </a:ext>
            </a:extLst>
          </p:cNvPr>
          <p:cNvCxnSpPr>
            <a:cxnSpLocks/>
          </p:cNvCxnSpPr>
          <p:nvPr/>
        </p:nvCxnSpPr>
        <p:spPr>
          <a:xfrm>
            <a:off x="4348384" y="4002694"/>
            <a:ext cx="23694" cy="172566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574BBEE-FE8E-4CA6-A79F-DA1FECC1EF5A}"/>
              </a:ext>
            </a:extLst>
          </p:cNvPr>
          <p:cNvCxnSpPr>
            <a:cxnSpLocks/>
          </p:cNvCxnSpPr>
          <p:nvPr/>
        </p:nvCxnSpPr>
        <p:spPr>
          <a:xfrm>
            <a:off x="5346965" y="4002034"/>
            <a:ext cx="1292510" cy="1756166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CACD8CDC-1F12-4DD4-8A32-EEBB4122C02E}"/>
              </a:ext>
            </a:extLst>
          </p:cNvPr>
          <p:cNvSpPr txBox="1"/>
          <p:nvPr/>
        </p:nvSpPr>
        <p:spPr>
          <a:xfrm>
            <a:off x="4192884" y="6021036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MAX’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3,400</a:t>
            </a:r>
            <a:endParaRPr lang="en-US" sz="1600" dirty="0"/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D14E94D-0A91-41FF-94A1-10A5F9E59FB6}"/>
              </a:ext>
            </a:extLst>
          </p:cNvPr>
          <p:cNvCxnSpPr>
            <a:cxnSpLocks/>
          </p:cNvCxnSpPr>
          <p:nvPr/>
        </p:nvCxnSpPr>
        <p:spPr>
          <a:xfrm flipV="1">
            <a:off x="4378962" y="5742987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9E45BB2-EF71-473A-B19F-A77AA9587541}"/>
              </a:ext>
            </a:extLst>
          </p:cNvPr>
          <p:cNvCxnSpPr>
            <a:cxnSpLocks/>
          </p:cNvCxnSpPr>
          <p:nvPr/>
        </p:nvCxnSpPr>
        <p:spPr>
          <a:xfrm flipV="1">
            <a:off x="4714240" y="5740318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8BC1248-D189-4D9A-9C71-E4BAA34F5950}"/>
              </a:ext>
            </a:extLst>
          </p:cNvPr>
          <p:cNvCxnSpPr>
            <a:cxnSpLocks/>
          </p:cNvCxnSpPr>
          <p:nvPr/>
        </p:nvCxnSpPr>
        <p:spPr>
          <a:xfrm flipH="1">
            <a:off x="4389120" y="5967547"/>
            <a:ext cx="292828" cy="90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DB8C957D-F254-4CBD-9441-6B1D65D277FB}"/>
              </a:ext>
            </a:extLst>
          </p:cNvPr>
          <p:cNvCxnSpPr>
            <a:cxnSpLocks/>
          </p:cNvCxnSpPr>
          <p:nvPr/>
        </p:nvCxnSpPr>
        <p:spPr>
          <a:xfrm>
            <a:off x="5346965" y="4002034"/>
            <a:ext cx="0" cy="175616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715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356D5-50B5-42B4-8D23-882B241E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74C20-59BE-4D57-9E62-5FF908533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PS7</a:t>
            </a:r>
          </a:p>
        </p:txBody>
      </p:sp>
    </p:spTree>
    <p:extLst>
      <p:ext uri="{BB962C8B-B14F-4D97-AF65-F5344CB8AC3E}">
        <p14:creationId xmlns:p14="http://schemas.microsoft.com/office/powerpoint/2010/main" val="278806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3904118" cy="3475613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2016760" y="4882735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35810" y="503802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2636520" y="5038029"/>
            <a:ext cx="384804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6321427" y="5839469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6487797" y="5729821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1465D9-6E8C-4E16-920D-396507E68D6B}"/>
              </a:ext>
            </a:extLst>
          </p:cNvPr>
          <p:cNvCxnSpPr>
            <a:cxnSpLocks/>
          </p:cNvCxnSpPr>
          <p:nvPr/>
        </p:nvCxnSpPr>
        <p:spPr>
          <a:xfrm flipV="1">
            <a:off x="6505078" y="5009773"/>
            <a:ext cx="0" cy="7306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29F0C8-7513-4DB9-9201-20A60C774428}"/>
              </a:ext>
            </a:extLst>
          </p:cNvPr>
          <p:cNvCxnSpPr>
            <a:cxnSpLocks/>
          </p:cNvCxnSpPr>
          <p:nvPr/>
        </p:nvCxnSpPr>
        <p:spPr>
          <a:xfrm>
            <a:off x="6505078" y="5009773"/>
            <a:ext cx="0" cy="734113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7671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2590800" y="1534160"/>
            <a:ext cx="3914278" cy="3475613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2016760" y="4882735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35810" y="503802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2636520" y="5038029"/>
            <a:ext cx="384804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6321427" y="5839469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6505078" y="5729821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1465D9-6E8C-4E16-920D-396507E68D6B}"/>
              </a:ext>
            </a:extLst>
          </p:cNvPr>
          <p:cNvCxnSpPr>
            <a:cxnSpLocks/>
          </p:cNvCxnSpPr>
          <p:nvPr/>
        </p:nvCxnSpPr>
        <p:spPr>
          <a:xfrm flipV="1">
            <a:off x="6505078" y="5009773"/>
            <a:ext cx="0" cy="7306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29F0C8-7513-4DB9-9201-20A60C774428}"/>
              </a:ext>
            </a:extLst>
          </p:cNvPr>
          <p:cNvCxnSpPr>
            <a:cxnSpLocks/>
          </p:cNvCxnSpPr>
          <p:nvPr/>
        </p:nvCxnSpPr>
        <p:spPr>
          <a:xfrm>
            <a:off x="6505078" y="5009773"/>
            <a:ext cx="0" cy="734113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16E4AA-42D4-42AA-9A44-4A1FFB6D9FC4}"/>
              </a:ext>
            </a:extLst>
          </p:cNvPr>
          <p:cNvCxnSpPr>
            <a:cxnSpLocks/>
          </p:cNvCxnSpPr>
          <p:nvPr/>
        </p:nvCxnSpPr>
        <p:spPr>
          <a:xfrm>
            <a:off x="2628400" y="1560788"/>
            <a:ext cx="1856900" cy="349358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5971AF-860E-495F-A178-2318DF2086DC}"/>
              </a:ext>
            </a:extLst>
          </p:cNvPr>
          <p:cNvSpPr txBox="1"/>
          <p:nvPr/>
        </p:nvSpPr>
        <p:spPr>
          <a:xfrm>
            <a:off x="4505810" y="532695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C695B8-9CD0-4F52-95ED-1795072C1C99}"/>
              </a:ext>
            </a:extLst>
          </p:cNvPr>
          <p:cNvCxnSpPr>
            <a:cxnSpLocks/>
          </p:cNvCxnSpPr>
          <p:nvPr/>
        </p:nvCxnSpPr>
        <p:spPr>
          <a:xfrm>
            <a:off x="4485300" y="5052012"/>
            <a:ext cx="0" cy="677809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0D8EC66-8DAC-4BFD-A042-68C471566FE4}"/>
              </a:ext>
            </a:extLst>
          </p:cNvPr>
          <p:cNvSpPr txBox="1"/>
          <p:nvPr/>
        </p:nvSpPr>
        <p:spPr>
          <a:xfrm>
            <a:off x="4369759" y="5839468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45E30E-9F9E-4034-BF5B-3DB77317AD6D}"/>
              </a:ext>
            </a:extLst>
          </p:cNvPr>
          <p:cNvCxnSpPr>
            <a:cxnSpLocks/>
          </p:cNvCxnSpPr>
          <p:nvPr/>
        </p:nvCxnSpPr>
        <p:spPr>
          <a:xfrm flipV="1">
            <a:off x="44853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3DC452C-CBA2-4C29-BF7C-DA92E5EC8777}"/>
              </a:ext>
            </a:extLst>
          </p:cNvPr>
          <p:cNvCxnSpPr>
            <a:cxnSpLocks/>
          </p:cNvCxnSpPr>
          <p:nvPr/>
        </p:nvCxnSpPr>
        <p:spPr>
          <a:xfrm>
            <a:off x="2600960" y="4764157"/>
            <a:ext cx="4616282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D19DDF7-4829-48C1-81B9-58DF417D010C}"/>
              </a:ext>
            </a:extLst>
          </p:cNvPr>
          <p:cNvSpPr txBox="1"/>
          <p:nvPr/>
        </p:nvSpPr>
        <p:spPr>
          <a:xfrm>
            <a:off x="6776085" y="441954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9F0A8-F022-45F6-886A-66BF8FB72EA2}"/>
              </a:ext>
            </a:extLst>
          </p:cNvPr>
          <p:cNvSpPr txBox="1"/>
          <p:nvPr/>
        </p:nvSpPr>
        <p:spPr>
          <a:xfrm>
            <a:off x="2011418" y="4614390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6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C18BAD-52C9-4CE7-B344-D87EF06D6807}"/>
              </a:ext>
            </a:extLst>
          </p:cNvPr>
          <p:cNvCxnSpPr>
            <a:cxnSpLocks/>
          </p:cNvCxnSpPr>
          <p:nvPr/>
        </p:nvCxnSpPr>
        <p:spPr>
          <a:xfrm flipH="1">
            <a:off x="2430468" y="476968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D0ED571-4A2E-4BA3-8A3C-4834CF7B62A1}"/>
              </a:ext>
            </a:extLst>
          </p:cNvPr>
          <p:cNvCxnSpPr>
            <a:cxnSpLocks/>
          </p:cNvCxnSpPr>
          <p:nvPr/>
        </p:nvCxnSpPr>
        <p:spPr>
          <a:xfrm flipV="1">
            <a:off x="4343400" y="3110801"/>
            <a:ext cx="0" cy="264156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3F3FAA-855F-4EC4-B349-5662EA4E809A}"/>
              </a:ext>
            </a:extLst>
          </p:cNvPr>
          <p:cNvCxnSpPr>
            <a:cxnSpLocks/>
          </p:cNvCxnSpPr>
          <p:nvPr/>
        </p:nvCxnSpPr>
        <p:spPr>
          <a:xfrm flipH="1">
            <a:off x="2600960" y="3110801"/>
            <a:ext cx="174244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4FDBB64-EAE5-47B7-857F-7FBCD2A862B6}"/>
              </a:ext>
            </a:extLst>
          </p:cNvPr>
          <p:cNvSpPr txBox="1"/>
          <p:nvPr/>
        </p:nvSpPr>
        <p:spPr>
          <a:xfrm>
            <a:off x="1726878" y="2954532"/>
            <a:ext cx="752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=64</a:t>
            </a:r>
            <a:endParaRPr lang="en-US" sz="16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8A393CC-21FC-49B3-AC9C-FD2E86195021}"/>
              </a:ext>
            </a:extLst>
          </p:cNvPr>
          <p:cNvCxnSpPr>
            <a:cxnSpLocks/>
          </p:cNvCxnSpPr>
          <p:nvPr/>
        </p:nvCxnSpPr>
        <p:spPr>
          <a:xfrm flipH="1">
            <a:off x="2412175" y="312380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92AAAD1-454F-4B55-A26F-8E0ED5E2EEC3}"/>
              </a:ext>
            </a:extLst>
          </p:cNvPr>
          <p:cNvSpPr txBox="1"/>
          <p:nvPr/>
        </p:nvSpPr>
        <p:spPr>
          <a:xfrm>
            <a:off x="3694709" y="5839468"/>
            <a:ext cx="7865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Q*=25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DD4F876-25EE-4E43-8653-7B2F8DBD2331}"/>
              </a:ext>
            </a:extLst>
          </p:cNvPr>
          <p:cNvCxnSpPr>
            <a:cxnSpLocks/>
          </p:cNvCxnSpPr>
          <p:nvPr/>
        </p:nvCxnSpPr>
        <p:spPr>
          <a:xfrm flipV="1">
            <a:off x="4349533" y="574713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1345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2590800" y="1534160"/>
            <a:ext cx="3914278" cy="3475613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2016760" y="4882735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35810" y="503802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2636520" y="5038029"/>
            <a:ext cx="384804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6321427" y="5839469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6505078" y="5729821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1465D9-6E8C-4E16-920D-396507E68D6B}"/>
              </a:ext>
            </a:extLst>
          </p:cNvPr>
          <p:cNvCxnSpPr>
            <a:cxnSpLocks/>
          </p:cNvCxnSpPr>
          <p:nvPr/>
        </p:nvCxnSpPr>
        <p:spPr>
          <a:xfrm flipV="1">
            <a:off x="6505078" y="5009773"/>
            <a:ext cx="0" cy="7306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729F0C8-7513-4DB9-9201-20A60C774428}"/>
              </a:ext>
            </a:extLst>
          </p:cNvPr>
          <p:cNvCxnSpPr>
            <a:cxnSpLocks/>
          </p:cNvCxnSpPr>
          <p:nvPr/>
        </p:nvCxnSpPr>
        <p:spPr>
          <a:xfrm>
            <a:off x="6505078" y="5009773"/>
            <a:ext cx="0" cy="734113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16E4AA-42D4-42AA-9A44-4A1FFB6D9FC4}"/>
              </a:ext>
            </a:extLst>
          </p:cNvPr>
          <p:cNvCxnSpPr>
            <a:cxnSpLocks/>
          </p:cNvCxnSpPr>
          <p:nvPr/>
        </p:nvCxnSpPr>
        <p:spPr>
          <a:xfrm>
            <a:off x="2628400" y="1560788"/>
            <a:ext cx="1856900" cy="349358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5971AF-860E-495F-A178-2318DF2086DC}"/>
              </a:ext>
            </a:extLst>
          </p:cNvPr>
          <p:cNvSpPr txBox="1"/>
          <p:nvPr/>
        </p:nvSpPr>
        <p:spPr>
          <a:xfrm>
            <a:off x="4505810" y="532695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C695B8-9CD0-4F52-95ED-1795072C1C99}"/>
              </a:ext>
            </a:extLst>
          </p:cNvPr>
          <p:cNvCxnSpPr>
            <a:cxnSpLocks/>
          </p:cNvCxnSpPr>
          <p:nvPr/>
        </p:nvCxnSpPr>
        <p:spPr>
          <a:xfrm>
            <a:off x="4485300" y="5052012"/>
            <a:ext cx="0" cy="677809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0D8EC66-8DAC-4BFD-A042-68C471566FE4}"/>
              </a:ext>
            </a:extLst>
          </p:cNvPr>
          <p:cNvSpPr txBox="1"/>
          <p:nvPr/>
        </p:nvSpPr>
        <p:spPr>
          <a:xfrm>
            <a:off x="4369759" y="5839468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745E30E-9F9E-4034-BF5B-3DB77317AD6D}"/>
              </a:ext>
            </a:extLst>
          </p:cNvPr>
          <p:cNvCxnSpPr>
            <a:cxnSpLocks/>
          </p:cNvCxnSpPr>
          <p:nvPr/>
        </p:nvCxnSpPr>
        <p:spPr>
          <a:xfrm flipV="1">
            <a:off x="44853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3DC452C-CBA2-4C29-BF7C-DA92E5EC8777}"/>
              </a:ext>
            </a:extLst>
          </p:cNvPr>
          <p:cNvCxnSpPr>
            <a:cxnSpLocks/>
          </p:cNvCxnSpPr>
          <p:nvPr/>
        </p:nvCxnSpPr>
        <p:spPr>
          <a:xfrm>
            <a:off x="2600960" y="4764157"/>
            <a:ext cx="4616282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D19DDF7-4829-48C1-81B9-58DF417D010C}"/>
              </a:ext>
            </a:extLst>
          </p:cNvPr>
          <p:cNvSpPr txBox="1"/>
          <p:nvPr/>
        </p:nvSpPr>
        <p:spPr>
          <a:xfrm>
            <a:off x="6776085" y="4419545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9F0A8-F022-45F6-886A-66BF8FB72EA2}"/>
              </a:ext>
            </a:extLst>
          </p:cNvPr>
          <p:cNvSpPr txBox="1"/>
          <p:nvPr/>
        </p:nvSpPr>
        <p:spPr>
          <a:xfrm>
            <a:off x="2011418" y="4614390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6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C18BAD-52C9-4CE7-B344-D87EF06D6807}"/>
              </a:ext>
            </a:extLst>
          </p:cNvPr>
          <p:cNvCxnSpPr>
            <a:cxnSpLocks/>
          </p:cNvCxnSpPr>
          <p:nvPr/>
        </p:nvCxnSpPr>
        <p:spPr>
          <a:xfrm flipH="1">
            <a:off x="2430468" y="476968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292AAAD1-454F-4B55-A26F-8E0ED5E2EEC3}"/>
              </a:ext>
            </a:extLst>
          </p:cNvPr>
          <p:cNvSpPr txBox="1"/>
          <p:nvPr/>
        </p:nvSpPr>
        <p:spPr>
          <a:xfrm>
            <a:off x="3694709" y="5839468"/>
            <a:ext cx="7865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Q*=25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DD4F876-25EE-4E43-8653-7B2F8DBD2331}"/>
              </a:ext>
            </a:extLst>
          </p:cNvPr>
          <p:cNvCxnSpPr>
            <a:cxnSpLocks/>
          </p:cNvCxnSpPr>
          <p:nvPr/>
        </p:nvCxnSpPr>
        <p:spPr>
          <a:xfrm flipV="1">
            <a:off x="4349533" y="574713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1E7C6B5-02B4-4677-B6D2-AD0A9740F428}"/>
              </a:ext>
            </a:extLst>
          </p:cNvPr>
          <p:cNvSpPr/>
          <p:nvPr/>
        </p:nvSpPr>
        <p:spPr>
          <a:xfrm>
            <a:off x="2613348" y="1547536"/>
            <a:ext cx="3589020" cy="3208020"/>
          </a:xfrm>
          <a:custGeom>
            <a:avLst/>
            <a:gdLst>
              <a:gd name="connsiteX0" fmla="*/ 7620 w 3589020"/>
              <a:gd name="connsiteY0" fmla="*/ 0 h 3208020"/>
              <a:gd name="connsiteX1" fmla="*/ 0 w 3589020"/>
              <a:gd name="connsiteY1" fmla="*/ 3208020 h 3208020"/>
              <a:gd name="connsiteX2" fmla="*/ 3589020 w 3589020"/>
              <a:gd name="connsiteY2" fmla="*/ 3200400 h 3208020"/>
              <a:gd name="connsiteX3" fmla="*/ 7620 w 3589020"/>
              <a:gd name="connsiteY3" fmla="*/ 0 h 3208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9020" h="3208020">
                <a:moveTo>
                  <a:pt x="7620" y="0"/>
                </a:moveTo>
                <a:lnTo>
                  <a:pt x="0" y="3208020"/>
                </a:lnTo>
                <a:lnTo>
                  <a:pt x="3589020" y="3200400"/>
                </a:lnTo>
                <a:lnTo>
                  <a:pt x="7620" y="0"/>
                </a:lnTo>
                <a:close/>
              </a:path>
            </a:pathLst>
          </a:custGeom>
          <a:solidFill>
            <a:srgbClr val="C00000">
              <a:alpha val="2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4D50AE1-A010-4872-BB29-A02CDB00A1D3}"/>
              </a:ext>
            </a:extLst>
          </p:cNvPr>
          <p:cNvSpPr/>
          <p:nvPr/>
        </p:nvSpPr>
        <p:spPr>
          <a:xfrm>
            <a:off x="7132320" y="1356856"/>
            <a:ext cx="508000" cy="250557"/>
          </a:xfrm>
          <a:prstGeom prst="rect">
            <a:avLst/>
          </a:prstGeom>
          <a:solidFill>
            <a:srgbClr val="C00000">
              <a:alpha val="2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242210-1F49-495C-8F82-BD4EA6BBF7A7}"/>
              </a:ext>
            </a:extLst>
          </p:cNvPr>
          <p:cNvSpPr txBox="1"/>
          <p:nvPr/>
        </p:nvSpPr>
        <p:spPr>
          <a:xfrm>
            <a:off x="7640320" y="1300565"/>
            <a:ext cx="3566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surplus = Z</a:t>
            </a:r>
            <a:endParaRPr lang="en-US" sz="16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7843035-EF19-4FF5-8086-936C6DE2C42F}"/>
              </a:ext>
            </a:extLst>
          </p:cNvPr>
          <p:cNvCxnSpPr>
            <a:cxnSpLocks/>
          </p:cNvCxnSpPr>
          <p:nvPr/>
        </p:nvCxnSpPr>
        <p:spPr>
          <a:xfrm>
            <a:off x="6202368" y="4764157"/>
            <a:ext cx="0" cy="956835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D917EF2-DA3C-46F6-AA3F-2E5119D6E965}"/>
              </a:ext>
            </a:extLst>
          </p:cNvPr>
          <p:cNvSpPr txBox="1"/>
          <p:nvPr/>
        </p:nvSpPr>
        <p:spPr>
          <a:xfrm>
            <a:off x="5553649" y="5837047"/>
            <a:ext cx="7865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=50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7BE24FE-719B-4BE1-9025-B1A84A07D2D3}"/>
              </a:ext>
            </a:extLst>
          </p:cNvPr>
          <p:cNvCxnSpPr>
            <a:cxnSpLocks/>
          </p:cNvCxnSpPr>
          <p:nvPr/>
        </p:nvCxnSpPr>
        <p:spPr>
          <a:xfrm flipV="1">
            <a:off x="6208473" y="5744714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376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31440" y="1540884"/>
            <a:ext cx="1417393" cy="1617986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965135" y="134929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2016760" y="4882735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35810" y="503802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7898953" y="5918554"/>
            <a:ext cx="522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104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8126283" y="5742310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1465D9-6E8C-4E16-920D-396507E68D6B}"/>
              </a:ext>
            </a:extLst>
          </p:cNvPr>
          <p:cNvCxnSpPr>
            <a:cxnSpLocks/>
          </p:cNvCxnSpPr>
          <p:nvPr/>
        </p:nvCxnSpPr>
        <p:spPr>
          <a:xfrm flipV="1">
            <a:off x="8125794" y="5033243"/>
            <a:ext cx="0" cy="7306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3DC452C-CBA2-4C29-BF7C-DA92E5EC8777}"/>
              </a:ext>
            </a:extLst>
          </p:cNvPr>
          <p:cNvCxnSpPr>
            <a:cxnSpLocks/>
          </p:cNvCxnSpPr>
          <p:nvPr/>
        </p:nvCxnSpPr>
        <p:spPr>
          <a:xfrm>
            <a:off x="2600960" y="4764157"/>
            <a:ext cx="6421120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D19DDF7-4829-48C1-81B9-58DF417D010C}"/>
              </a:ext>
            </a:extLst>
          </p:cNvPr>
          <p:cNvSpPr txBox="1"/>
          <p:nvPr/>
        </p:nvSpPr>
        <p:spPr>
          <a:xfrm>
            <a:off x="8612167" y="4449646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9F0A8-F022-45F6-886A-66BF8FB72EA2}"/>
              </a:ext>
            </a:extLst>
          </p:cNvPr>
          <p:cNvSpPr txBox="1"/>
          <p:nvPr/>
        </p:nvSpPr>
        <p:spPr>
          <a:xfrm>
            <a:off x="2011418" y="4614390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6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C18BAD-52C9-4CE7-B344-D87EF06D6807}"/>
              </a:ext>
            </a:extLst>
          </p:cNvPr>
          <p:cNvCxnSpPr>
            <a:cxnSpLocks/>
          </p:cNvCxnSpPr>
          <p:nvPr/>
        </p:nvCxnSpPr>
        <p:spPr>
          <a:xfrm flipH="1">
            <a:off x="2430468" y="476968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D0ED571-4A2E-4BA3-8A3C-4834CF7B62A1}"/>
              </a:ext>
            </a:extLst>
          </p:cNvPr>
          <p:cNvCxnSpPr>
            <a:cxnSpLocks/>
          </p:cNvCxnSpPr>
          <p:nvPr/>
        </p:nvCxnSpPr>
        <p:spPr>
          <a:xfrm flipV="1">
            <a:off x="4048833" y="3171611"/>
            <a:ext cx="0" cy="255821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3F3FAA-855F-4EC4-B349-5662EA4E809A}"/>
              </a:ext>
            </a:extLst>
          </p:cNvPr>
          <p:cNvCxnSpPr>
            <a:cxnSpLocks/>
          </p:cNvCxnSpPr>
          <p:nvPr/>
        </p:nvCxnSpPr>
        <p:spPr>
          <a:xfrm flipH="1">
            <a:off x="2600960" y="3180080"/>
            <a:ext cx="1447873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4FDBB64-EAE5-47B7-857F-7FBCD2A862B6}"/>
              </a:ext>
            </a:extLst>
          </p:cNvPr>
          <p:cNvSpPr txBox="1"/>
          <p:nvPr/>
        </p:nvSpPr>
        <p:spPr>
          <a:xfrm>
            <a:off x="1956459" y="2989594"/>
            <a:ext cx="752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</a:t>
            </a:r>
            <a:endParaRPr lang="en-US" sz="16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8A393CC-21FC-49B3-AC9C-FD2E86195021}"/>
              </a:ext>
            </a:extLst>
          </p:cNvPr>
          <p:cNvCxnSpPr>
            <a:cxnSpLocks/>
          </p:cNvCxnSpPr>
          <p:nvPr/>
        </p:nvCxnSpPr>
        <p:spPr>
          <a:xfrm flipH="1">
            <a:off x="2412175" y="31800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CD0DB7-9EA2-4097-80CD-69B108AE450E}"/>
              </a:ext>
            </a:extLst>
          </p:cNvPr>
          <p:cNvCxnSpPr>
            <a:cxnSpLocks/>
          </p:cNvCxnSpPr>
          <p:nvPr/>
        </p:nvCxnSpPr>
        <p:spPr>
          <a:xfrm>
            <a:off x="4048833" y="3165593"/>
            <a:ext cx="2769591" cy="923847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34600DF-0075-40DF-9B8A-C72EEF1FFF15}"/>
              </a:ext>
            </a:extLst>
          </p:cNvPr>
          <p:cNvCxnSpPr>
            <a:cxnSpLocks/>
          </p:cNvCxnSpPr>
          <p:nvPr/>
        </p:nvCxnSpPr>
        <p:spPr>
          <a:xfrm>
            <a:off x="6812726" y="4097292"/>
            <a:ext cx="1313068" cy="929217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84631E1-0286-43B3-936E-A6377A6AF623}"/>
              </a:ext>
            </a:extLst>
          </p:cNvPr>
          <p:cNvCxnSpPr>
            <a:cxnSpLocks/>
          </p:cNvCxnSpPr>
          <p:nvPr/>
        </p:nvCxnSpPr>
        <p:spPr>
          <a:xfrm flipV="1">
            <a:off x="6811903" y="4094670"/>
            <a:ext cx="0" cy="164539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F54EDDC-A017-4791-AF48-6D76B35D1573}"/>
              </a:ext>
            </a:extLst>
          </p:cNvPr>
          <p:cNvCxnSpPr>
            <a:cxnSpLocks/>
          </p:cNvCxnSpPr>
          <p:nvPr/>
        </p:nvCxnSpPr>
        <p:spPr>
          <a:xfrm flipH="1" flipV="1">
            <a:off x="2575560" y="4089440"/>
            <a:ext cx="4236343" cy="785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535E389-1F21-4581-BE2E-182A9DCCC2AE}"/>
              </a:ext>
            </a:extLst>
          </p:cNvPr>
          <p:cNvCxnSpPr>
            <a:cxnSpLocks/>
          </p:cNvCxnSpPr>
          <p:nvPr/>
        </p:nvCxnSpPr>
        <p:spPr>
          <a:xfrm flipH="1" flipV="1">
            <a:off x="2595055" y="5029313"/>
            <a:ext cx="5530739" cy="393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DF68C45-7DCF-407A-8A5B-5735C022690D}"/>
              </a:ext>
            </a:extLst>
          </p:cNvPr>
          <p:cNvSpPr txBox="1"/>
          <p:nvPr/>
        </p:nvSpPr>
        <p:spPr>
          <a:xfrm>
            <a:off x="6591094" y="5918554"/>
            <a:ext cx="522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endParaRPr lang="en-US" sz="16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008C5E-2E26-41AA-98B0-50BAF193F091}"/>
              </a:ext>
            </a:extLst>
          </p:cNvPr>
          <p:cNvCxnSpPr>
            <a:cxnSpLocks/>
          </p:cNvCxnSpPr>
          <p:nvPr/>
        </p:nvCxnSpPr>
        <p:spPr>
          <a:xfrm flipV="1">
            <a:off x="6818424" y="574320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9A402AF-95D3-470A-AB45-7634C74DF746}"/>
              </a:ext>
            </a:extLst>
          </p:cNvPr>
          <p:cNvSpPr txBox="1"/>
          <p:nvPr/>
        </p:nvSpPr>
        <p:spPr>
          <a:xfrm>
            <a:off x="3819303" y="5918554"/>
            <a:ext cx="56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34.5</a:t>
            </a:r>
            <a:endParaRPr lang="en-US" sz="16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15CA7A9-2CFB-4B1D-985B-9088FEBBA4AE}"/>
              </a:ext>
            </a:extLst>
          </p:cNvPr>
          <p:cNvCxnSpPr>
            <a:cxnSpLocks/>
          </p:cNvCxnSpPr>
          <p:nvPr/>
        </p:nvCxnSpPr>
        <p:spPr>
          <a:xfrm flipV="1">
            <a:off x="4046633" y="5742310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46C53E2-6644-4C42-B870-33AAD046053F}"/>
              </a:ext>
            </a:extLst>
          </p:cNvPr>
          <p:cNvSpPr txBox="1"/>
          <p:nvPr/>
        </p:nvSpPr>
        <p:spPr>
          <a:xfrm>
            <a:off x="1994559" y="394109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en-US" sz="16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A994BE-23F9-4636-B535-794FB779D172}"/>
              </a:ext>
            </a:extLst>
          </p:cNvPr>
          <p:cNvCxnSpPr>
            <a:cxnSpLocks/>
          </p:cNvCxnSpPr>
          <p:nvPr/>
        </p:nvCxnSpPr>
        <p:spPr>
          <a:xfrm flipH="1">
            <a:off x="2413609" y="4096387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F86795D-A9D0-47DD-B28D-F3DC7ED1E165}"/>
              </a:ext>
            </a:extLst>
          </p:cNvPr>
          <p:cNvCxnSpPr/>
          <p:nvPr/>
        </p:nvCxnSpPr>
        <p:spPr>
          <a:xfrm flipH="1">
            <a:off x="3509818" y="1911927"/>
            <a:ext cx="1006764" cy="526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F15EED0-7FB8-4304-B2B8-F2364602CE36}"/>
              </a:ext>
            </a:extLst>
          </p:cNvPr>
          <p:cNvCxnSpPr/>
          <p:nvPr/>
        </p:nvCxnSpPr>
        <p:spPr>
          <a:xfrm flipH="1">
            <a:off x="5389045" y="2878888"/>
            <a:ext cx="1006764" cy="526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7CCF1CC-EBCB-40E4-A09D-F95D7F3D9C8E}"/>
              </a:ext>
            </a:extLst>
          </p:cNvPr>
          <p:cNvCxnSpPr/>
          <p:nvPr/>
        </p:nvCxnSpPr>
        <p:spPr>
          <a:xfrm flipH="1">
            <a:off x="7498816" y="3932610"/>
            <a:ext cx="1006764" cy="526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14745FF-90EA-41A8-AE7E-634C6CFA47C3}"/>
              </a:ext>
            </a:extLst>
          </p:cNvPr>
          <p:cNvSpPr txBox="1"/>
          <p:nvPr/>
        </p:nvSpPr>
        <p:spPr>
          <a:xfrm>
            <a:off x="4693730" y="1574800"/>
            <a:ext cx="1402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 252-4*Q</a:t>
            </a:r>
            <a:endParaRPr lang="en-US"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9A0459-104A-4F5D-B6FA-4F699E209F8A}"/>
              </a:ext>
            </a:extLst>
          </p:cNvPr>
          <p:cNvSpPr txBox="1"/>
          <p:nvPr/>
        </p:nvSpPr>
        <p:spPr>
          <a:xfrm>
            <a:off x="6395809" y="2514410"/>
            <a:ext cx="1602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P=160-(4/3)*Q</a:t>
            </a:r>
            <a:endParaRPr 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AFF68D-CC14-4BBE-B4B3-16B08039B8D7}"/>
              </a:ext>
            </a:extLst>
          </p:cNvPr>
          <p:cNvSpPr txBox="1"/>
          <p:nvPr/>
        </p:nvSpPr>
        <p:spPr>
          <a:xfrm>
            <a:off x="8555919" y="3599551"/>
            <a:ext cx="1602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P=218-2*Q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24878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31440" y="1540884"/>
            <a:ext cx="1417393" cy="1617986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965135" y="134929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2016760" y="4882735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35810" y="503802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7898953" y="5918554"/>
            <a:ext cx="522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104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8126283" y="5742310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1465D9-6E8C-4E16-920D-396507E68D6B}"/>
              </a:ext>
            </a:extLst>
          </p:cNvPr>
          <p:cNvCxnSpPr>
            <a:cxnSpLocks/>
          </p:cNvCxnSpPr>
          <p:nvPr/>
        </p:nvCxnSpPr>
        <p:spPr>
          <a:xfrm flipV="1">
            <a:off x="8125794" y="5033243"/>
            <a:ext cx="0" cy="7306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3DC452C-CBA2-4C29-BF7C-DA92E5EC8777}"/>
              </a:ext>
            </a:extLst>
          </p:cNvPr>
          <p:cNvCxnSpPr>
            <a:cxnSpLocks/>
          </p:cNvCxnSpPr>
          <p:nvPr/>
        </p:nvCxnSpPr>
        <p:spPr>
          <a:xfrm>
            <a:off x="2600960" y="4764157"/>
            <a:ext cx="6421120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D19DDF7-4829-48C1-81B9-58DF417D010C}"/>
              </a:ext>
            </a:extLst>
          </p:cNvPr>
          <p:cNvSpPr txBox="1"/>
          <p:nvPr/>
        </p:nvSpPr>
        <p:spPr>
          <a:xfrm>
            <a:off x="8612167" y="4449646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9F0A8-F022-45F6-886A-66BF8FB72EA2}"/>
              </a:ext>
            </a:extLst>
          </p:cNvPr>
          <p:cNvSpPr txBox="1"/>
          <p:nvPr/>
        </p:nvSpPr>
        <p:spPr>
          <a:xfrm>
            <a:off x="2011418" y="4614390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6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C18BAD-52C9-4CE7-B344-D87EF06D6807}"/>
              </a:ext>
            </a:extLst>
          </p:cNvPr>
          <p:cNvCxnSpPr>
            <a:cxnSpLocks/>
          </p:cNvCxnSpPr>
          <p:nvPr/>
        </p:nvCxnSpPr>
        <p:spPr>
          <a:xfrm flipH="1">
            <a:off x="2430468" y="476968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D0ED571-4A2E-4BA3-8A3C-4834CF7B62A1}"/>
              </a:ext>
            </a:extLst>
          </p:cNvPr>
          <p:cNvCxnSpPr>
            <a:cxnSpLocks/>
          </p:cNvCxnSpPr>
          <p:nvPr/>
        </p:nvCxnSpPr>
        <p:spPr>
          <a:xfrm flipV="1">
            <a:off x="4048833" y="3171611"/>
            <a:ext cx="0" cy="255821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3F3FAA-855F-4EC4-B349-5662EA4E809A}"/>
              </a:ext>
            </a:extLst>
          </p:cNvPr>
          <p:cNvCxnSpPr>
            <a:cxnSpLocks/>
          </p:cNvCxnSpPr>
          <p:nvPr/>
        </p:nvCxnSpPr>
        <p:spPr>
          <a:xfrm flipH="1">
            <a:off x="2600960" y="3180080"/>
            <a:ext cx="1447873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4FDBB64-EAE5-47B7-857F-7FBCD2A862B6}"/>
              </a:ext>
            </a:extLst>
          </p:cNvPr>
          <p:cNvSpPr txBox="1"/>
          <p:nvPr/>
        </p:nvSpPr>
        <p:spPr>
          <a:xfrm>
            <a:off x="1956459" y="2989594"/>
            <a:ext cx="752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</a:t>
            </a:r>
            <a:endParaRPr lang="en-US" sz="16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8A393CC-21FC-49B3-AC9C-FD2E86195021}"/>
              </a:ext>
            </a:extLst>
          </p:cNvPr>
          <p:cNvCxnSpPr>
            <a:cxnSpLocks/>
          </p:cNvCxnSpPr>
          <p:nvPr/>
        </p:nvCxnSpPr>
        <p:spPr>
          <a:xfrm flipH="1">
            <a:off x="2412175" y="31800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CD0DB7-9EA2-4097-80CD-69B108AE450E}"/>
              </a:ext>
            </a:extLst>
          </p:cNvPr>
          <p:cNvCxnSpPr>
            <a:cxnSpLocks/>
          </p:cNvCxnSpPr>
          <p:nvPr/>
        </p:nvCxnSpPr>
        <p:spPr>
          <a:xfrm>
            <a:off x="4048833" y="3165593"/>
            <a:ext cx="2769591" cy="923847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34600DF-0075-40DF-9B8A-C72EEF1FFF15}"/>
              </a:ext>
            </a:extLst>
          </p:cNvPr>
          <p:cNvCxnSpPr>
            <a:cxnSpLocks/>
          </p:cNvCxnSpPr>
          <p:nvPr/>
        </p:nvCxnSpPr>
        <p:spPr>
          <a:xfrm>
            <a:off x="6812726" y="4097292"/>
            <a:ext cx="1313068" cy="929217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84631E1-0286-43B3-936E-A6377A6AF623}"/>
              </a:ext>
            </a:extLst>
          </p:cNvPr>
          <p:cNvCxnSpPr>
            <a:cxnSpLocks/>
          </p:cNvCxnSpPr>
          <p:nvPr/>
        </p:nvCxnSpPr>
        <p:spPr>
          <a:xfrm flipV="1">
            <a:off x="6811903" y="4094670"/>
            <a:ext cx="0" cy="164539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F54EDDC-A017-4791-AF48-6D76B35D1573}"/>
              </a:ext>
            </a:extLst>
          </p:cNvPr>
          <p:cNvCxnSpPr>
            <a:cxnSpLocks/>
          </p:cNvCxnSpPr>
          <p:nvPr/>
        </p:nvCxnSpPr>
        <p:spPr>
          <a:xfrm flipH="1" flipV="1">
            <a:off x="2575560" y="4089440"/>
            <a:ext cx="4236343" cy="785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535E389-1F21-4581-BE2E-182A9DCCC2AE}"/>
              </a:ext>
            </a:extLst>
          </p:cNvPr>
          <p:cNvCxnSpPr>
            <a:cxnSpLocks/>
          </p:cNvCxnSpPr>
          <p:nvPr/>
        </p:nvCxnSpPr>
        <p:spPr>
          <a:xfrm flipH="1" flipV="1">
            <a:off x="2595055" y="5029313"/>
            <a:ext cx="5530739" cy="393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DF68C45-7DCF-407A-8A5B-5735C022690D}"/>
              </a:ext>
            </a:extLst>
          </p:cNvPr>
          <p:cNvSpPr txBox="1"/>
          <p:nvPr/>
        </p:nvSpPr>
        <p:spPr>
          <a:xfrm>
            <a:off x="6591094" y="5918554"/>
            <a:ext cx="522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endParaRPr lang="en-US" sz="16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008C5E-2E26-41AA-98B0-50BAF193F091}"/>
              </a:ext>
            </a:extLst>
          </p:cNvPr>
          <p:cNvCxnSpPr>
            <a:cxnSpLocks/>
          </p:cNvCxnSpPr>
          <p:nvPr/>
        </p:nvCxnSpPr>
        <p:spPr>
          <a:xfrm flipV="1">
            <a:off x="6818424" y="574320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9A402AF-95D3-470A-AB45-7634C74DF746}"/>
              </a:ext>
            </a:extLst>
          </p:cNvPr>
          <p:cNvSpPr txBox="1"/>
          <p:nvPr/>
        </p:nvSpPr>
        <p:spPr>
          <a:xfrm>
            <a:off x="3819303" y="5918554"/>
            <a:ext cx="56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34.5</a:t>
            </a:r>
            <a:endParaRPr lang="en-US" sz="16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15CA7A9-2CFB-4B1D-985B-9088FEBBA4AE}"/>
              </a:ext>
            </a:extLst>
          </p:cNvPr>
          <p:cNvCxnSpPr>
            <a:cxnSpLocks/>
          </p:cNvCxnSpPr>
          <p:nvPr/>
        </p:nvCxnSpPr>
        <p:spPr>
          <a:xfrm flipV="1">
            <a:off x="4046633" y="5742310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46C53E2-6644-4C42-B870-33AAD046053F}"/>
              </a:ext>
            </a:extLst>
          </p:cNvPr>
          <p:cNvSpPr txBox="1"/>
          <p:nvPr/>
        </p:nvSpPr>
        <p:spPr>
          <a:xfrm>
            <a:off x="1994559" y="394109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en-US" sz="16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A994BE-23F9-4636-B535-794FB779D172}"/>
              </a:ext>
            </a:extLst>
          </p:cNvPr>
          <p:cNvCxnSpPr>
            <a:cxnSpLocks/>
          </p:cNvCxnSpPr>
          <p:nvPr/>
        </p:nvCxnSpPr>
        <p:spPr>
          <a:xfrm flipH="1">
            <a:off x="2413609" y="4096387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F86795D-A9D0-47DD-B28D-F3DC7ED1E165}"/>
              </a:ext>
            </a:extLst>
          </p:cNvPr>
          <p:cNvCxnSpPr/>
          <p:nvPr/>
        </p:nvCxnSpPr>
        <p:spPr>
          <a:xfrm flipH="1">
            <a:off x="3509818" y="1911927"/>
            <a:ext cx="1006764" cy="526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F15EED0-7FB8-4304-B2B8-F2364602CE36}"/>
              </a:ext>
            </a:extLst>
          </p:cNvPr>
          <p:cNvCxnSpPr/>
          <p:nvPr/>
        </p:nvCxnSpPr>
        <p:spPr>
          <a:xfrm flipH="1">
            <a:off x="5389045" y="2878888"/>
            <a:ext cx="1006764" cy="526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7CCF1CC-EBCB-40E4-A09D-F95D7F3D9C8E}"/>
              </a:ext>
            </a:extLst>
          </p:cNvPr>
          <p:cNvCxnSpPr/>
          <p:nvPr/>
        </p:nvCxnSpPr>
        <p:spPr>
          <a:xfrm flipH="1">
            <a:off x="7498816" y="3932610"/>
            <a:ext cx="1006764" cy="526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14745FF-90EA-41A8-AE7E-634C6CFA47C3}"/>
              </a:ext>
            </a:extLst>
          </p:cNvPr>
          <p:cNvSpPr txBox="1"/>
          <p:nvPr/>
        </p:nvSpPr>
        <p:spPr>
          <a:xfrm>
            <a:off x="4693730" y="1574800"/>
            <a:ext cx="1402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 252-4*Q</a:t>
            </a:r>
            <a:endParaRPr lang="en-US"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9A0459-104A-4F5D-B6FA-4F699E209F8A}"/>
              </a:ext>
            </a:extLst>
          </p:cNvPr>
          <p:cNvSpPr txBox="1"/>
          <p:nvPr/>
        </p:nvSpPr>
        <p:spPr>
          <a:xfrm>
            <a:off x="6395809" y="2514410"/>
            <a:ext cx="1602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P=160-(4/3)*Q</a:t>
            </a:r>
            <a:endParaRPr 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AFF68D-CC14-4BBE-B4B3-16B08039B8D7}"/>
              </a:ext>
            </a:extLst>
          </p:cNvPr>
          <p:cNvSpPr txBox="1"/>
          <p:nvPr/>
        </p:nvSpPr>
        <p:spPr>
          <a:xfrm>
            <a:off x="8555919" y="3599551"/>
            <a:ext cx="1602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P=218-2*Q</a:t>
            </a:r>
            <a:endParaRPr lang="en-US" sz="16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0946C9F-7777-4A14-AFCC-F3508830FC0A}"/>
              </a:ext>
            </a:extLst>
          </p:cNvPr>
          <p:cNvCxnSpPr>
            <a:cxnSpLocks/>
          </p:cNvCxnSpPr>
          <p:nvPr/>
        </p:nvCxnSpPr>
        <p:spPr>
          <a:xfrm>
            <a:off x="2601800" y="1526819"/>
            <a:ext cx="653821" cy="164129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A622EC2-DF5F-4183-B923-2C73027F4BEC}"/>
              </a:ext>
            </a:extLst>
          </p:cNvPr>
          <p:cNvCxnSpPr>
            <a:cxnSpLocks/>
          </p:cNvCxnSpPr>
          <p:nvPr/>
        </p:nvCxnSpPr>
        <p:spPr>
          <a:xfrm>
            <a:off x="3275447" y="3183068"/>
            <a:ext cx="1690983" cy="91695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1E05F5F-3CC8-4BBD-A55C-160356539907}"/>
              </a:ext>
            </a:extLst>
          </p:cNvPr>
          <p:cNvCxnSpPr>
            <a:cxnSpLocks/>
          </p:cNvCxnSpPr>
          <p:nvPr/>
        </p:nvCxnSpPr>
        <p:spPr>
          <a:xfrm>
            <a:off x="4967253" y="4092244"/>
            <a:ext cx="916773" cy="93426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E676B81-E808-43E2-9AFA-5DB84C431227}"/>
              </a:ext>
            </a:extLst>
          </p:cNvPr>
          <p:cNvCxnSpPr>
            <a:cxnSpLocks/>
          </p:cNvCxnSpPr>
          <p:nvPr/>
        </p:nvCxnSpPr>
        <p:spPr>
          <a:xfrm flipV="1">
            <a:off x="3255621" y="3194155"/>
            <a:ext cx="0" cy="255821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C3F0A99-1D47-4D64-A9F7-291CF0213B2C}"/>
              </a:ext>
            </a:extLst>
          </p:cNvPr>
          <p:cNvCxnSpPr>
            <a:cxnSpLocks/>
          </p:cNvCxnSpPr>
          <p:nvPr/>
        </p:nvCxnSpPr>
        <p:spPr>
          <a:xfrm flipV="1">
            <a:off x="4966430" y="4096387"/>
            <a:ext cx="0" cy="164539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D21E86D-BA32-4855-BCB8-F92A69E9D502}"/>
              </a:ext>
            </a:extLst>
          </p:cNvPr>
          <p:cNvSpPr txBox="1"/>
          <p:nvPr/>
        </p:nvSpPr>
        <p:spPr>
          <a:xfrm>
            <a:off x="4729826" y="5918554"/>
            <a:ext cx="56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43.5</a:t>
            </a:r>
            <a:endParaRPr lang="en-US" sz="16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ACD7F5E-25D8-4873-8E34-14E566882558}"/>
              </a:ext>
            </a:extLst>
          </p:cNvPr>
          <p:cNvCxnSpPr>
            <a:cxnSpLocks/>
          </p:cNvCxnSpPr>
          <p:nvPr/>
        </p:nvCxnSpPr>
        <p:spPr>
          <a:xfrm flipV="1">
            <a:off x="4957156" y="574320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F3C4404-4543-448B-84C1-888E51686DD7}"/>
              </a:ext>
            </a:extLst>
          </p:cNvPr>
          <p:cNvSpPr txBox="1"/>
          <p:nvPr/>
        </p:nvSpPr>
        <p:spPr>
          <a:xfrm>
            <a:off x="2859215" y="5936497"/>
            <a:ext cx="696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17.25</a:t>
            </a:r>
            <a:endParaRPr lang="en-US" sz="16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C1EB6DD-A9AB-4F4F-B361-F14CC1BCE7E7}"/>
              </a:ext>
            </a:extLst>
          </p:cNvPr>
          <p:cNvCxnSpPr>
            <a:cxnSpLocks/>
          </p:cNvCxnSpPr>
          <p:nvPr/>
        </p:nvCxnSpPr>
        <p:spPr>
          <a:xfrm flipV="1">
            <a:off x="3255621" y="575236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9091105-2F55-44D8-A6A8-AA1BD5B6EB2B}"/>
              </a:ext>
            </a:extLst>
          </p:cNvPr>
          <p:cNvSpPr txBox="1"/>
          <p:nvPr/>
        </p:nvSpPr>
        <p:spPr>
          <a:xfrm>
            <a:off x="5660996" y="5898022"/>
            <a:ext cx="522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lang="en-US" sz="160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CCCB632-4963-468D-80C2-F8E99499AF2E}"/>
              </a:ext>
            </a:extLst>
          </p:cNvPr>
          <p:cNvCxnSpPr>
            <a:cxnSpLocks/>
          </p:cNvCxnSpPr>
          <p:nvPr/>
        </p:nvCxnSpPr>
        <p:spPr>
          <a:xfrm flipV="1">
            <a:off x="5888326" y="5721778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513C9EC-8D29-4B2A-A9FA-693AC9497027}"/>
              </a:ext>
            </a:extLst>
          </p:cNvPr>
          <p:cNvCxnSpPr>
            <a:cxnSpLocks/>
          </p:cNvCxnSpPr>
          <p:nvPr/>
        </p:nvCxnSpPr>
        <p:spPr>
          <a:xfrm flipV="1">
            <a:off x="5887837" y="5012711"/>
            <a:ext cx="0" cy="7306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725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31440" y="1540884"/>
            <a:ext cx="1417393" cy="1617986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965135" y="134929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252</a:t>
            </a:r>
            <a:endParaRPr 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37339-C4FC-493F-B2C2-449BE7E14961}"/>
              </a:ext>
            </a:extLst>
          </p:cNvPr>
          <p:cNvSpPr txBox="1"/>
          <p:nvPr/>
        </p:nvSpPr>
        <p:spPr>
          <a:xfrm>
            <a:off x="2016760" y="4882735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EC9F3B-7BB8-40DE-AED3-29A469B65EE2}"/>
              </a:ext>
            </a:extLst>
          </p:cNvPr>
          <p:cNvCxnSpPr>
            <a:cxnSpLocks/>
          </p:cNvCxnSpPr>
          <p:nvPr/>
        </p:nvCxnSpPr>
        <p:spPr>
          <a:xfrm flipH="1">
            <a:off x="2435810" y="5038029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7898953" y="5918554"/>
            <a:ext cx="522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104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8126283" y="5742310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1465D9-6E8C-4E16-920D-396507E68D6B}"/>
              </a:ext>
            </a:extLst>
          </p:cNvPr>
          <p:cNvCxnSpPr>
            <a:cxnSpLocks/>
          </p:cNvCxnSpPr>
          <p:nvPr/>
        </p:nvCxnSpPr>
        <p:spPr>
          <a:xfrm flipV="1">
            <a:off x="8125794" y="5033243"/>
            <a:ext cx="0" cy="7306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3DC452C-CBA2-4C29-BF7C-DA92E5EC8777}"/>
              </a:ext>
            </a:extLst>
          </p:cNvPr>
          <p:cNvCxnSpPr>
            <a:cxnSpLocks/>
          </p:cNvCxnSpPr>
          <p:nvPr/>
        </p:nvCxnSpPr>
        <p:spPr>
          <a:xfrm>
            <a:off x="2600960" y="4764157"/>
            <a:ext cx="6421120" cy="0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D19DDF7-4829-48C1-81B9-58DF417D010C}"/>
              </a:ext>
            </a:extLst>
          </p:cNvPr>
          <p:cNvSpPr txBox="1"/>
          <p:nvPr/>
        </p:nvSpPr>
        <p:spPr>
          <a:xfrm>
            <a:off x="8612167" y="4449646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B9F0A8-F022-45F6-886A-66BF8FB72EA2}"/>
              </a:ext>
            </a:extLst>
          </p:cNvPr>
          <p:cNvSpPr txBox="1"/>
          <p:nvPr/>
        </p:nvSpPr>
        <p:spPr>
          <a:xfrm>
            <a:off x="2011418" y="4614390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US" sz="16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C18BAD-52C9-4CE7-B344-D87EF06D6807}"/>
              </a:ext>
            </a:extLst>
          </p:cNvPr>
          <p:cNvCxnSpPr>
            <a:cxnSpLocks/>
          </p:cNvCxnSpPr>
          <p:nvPr/>
        </p:nvCxnSpPr>
        <p:spPr>
          <a:xfrm flipH="1">
            <a:off x="2430468" y="4769684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D0ED571-4A2E-4BA3-8A3C-4834CF7B62A1}"/>
              </a:ext>
            </a:extLst>
          </p:cNvPr>
          <p:cNvCxnSpPr>
            <a:cxnSpLocks/>
          </p:cNvCxnSpPr>
          <p:nvPr/>
        </p:nvCxnSpPr>
        <p:spPr>
          <a:xfrm flipV="1">
            <a:off x="4048833" y="3171611"/>
            <a:ext cx="0" cy="255821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3F3FAA-855F-4EC4-B349-5662EA4E809A}"/>
              </a:ext>
            </a:extLst>
          </p:cNvPr>
          <p:cNvCxnSpPr>
            <a:cxnSpLocks/>
          </p:cNvCxnSpPr>
          <p:nvPr/>
        </p:nvCxnSpPr>
        <p:spPr>
          <a:xfrm flipH="1">
            <a:off x="2600960" y="3180080"/>
            <a:ext cx="1447873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4FDBB64-EAE5-47B7-857F-7FBCD2A862B6}"/>
              </a:ext>
            </a:extLst>
          </p:cNvPr>
          <p:cNvSpPr txBox="1"/>
          <p:nvPr/>
        </p:nvSpPr>
        <p:spPr>
          <a:xfrm>
            <a:off x="1956459" y="2989594"/>
            <a:ext cx="752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114</a:t>
            </a:r>
            <a:endParaRPr lang="en-US" sz="1600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8A393CC-21FC-49B3-AC9C-FD2E86195021}"/>
              </a:ext>
            </a:extLst>
          </p:cNvPr>
          <p:cNvCxnSpPr>
            <a:cxnSpLocks/>
          </p:cNvCxnSpPr>
          <p:nvPr/>
        </p:nvCxnSpPr>
        <p:spPr>
          <a:xfrm flipH="1">
            <a:off x="2412175" y="31800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CD0DB7-9EA2-4097-80CD-69B108AE450E}"/>
              </a:ext>
            </a:extLst>
          </p:cNvPr>
          <p:cNvCxnSpPr>
            <a:cxnSpLocks/>
          </p:cNvCxnSpPr>
          <p:nvPr/>
        </p:nvCxnSpPr>
        <p:spPr>
          <a:xfrm>
            <a:off x="4048833" y="3165593"/>
            <a:ext cx="2769591" cy="923847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34600DF-0075-40DF-9B8A-C72EEF1FFF15}"/>
              </a:ext>
            </a:extLst>
          </p:cNvPr>
          <p:cNvCxnSpPr>
            <a:cxnSpLocks/>
          </p:cNvCxnSpPr>
          <p:nvPr/>
        </p:nvCxnSpPr>
        <p:spPr>
          <a:xfrm>
            <a:off x="6812726" y="4097292"/>
            <a:ext cx="1313068" cy="929217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84631E1-0286-43B3-936E-A6377A6AF623}"/>
              </a:ext>
            </a:extLst>
          </p:cNvPr>
          <p:cNvCxnSpPr>
            <a:cxnSpLocks/>
          </p:cNvCxnSpPr>
          <p:nvPr/>
        </p:nvCxnSpPr>
        <p:spPr>
          <a:xfrm flipV="1">
            <a:off x="6811903" y="4094670"/>
            <a:ext cx="0" cy="164539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F54EDDC-A017-4791-AF48-6D76B35D1573}"/>
              </a:ext>
            </a:extLst>
          </p:cNvPr>
          <p:cNvCxnSpPr>
            <a:cxnSpLocks/>
          </p:cNvCxnSpPr>
          <p:nvPr/>
        </p:nvCxnSpPr>
        <p:spPr>
          <a:xfrm flipH="1" flipV="1">
            <a:off x="2575560" y="4089440"/>
            <a:ext cx="4236343" cy="785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535E389-1F21-4581-BE2E-182A9DCCC2AE}"/>
              </a:ext>
            </a:extLst>
          </p:cNvPr>
          <p:cNvCxnSpPr>
            <a:cxnSpLocks/>
          </p:cNvCxnSpPr>
          <p:nvPr/>
        </p:nvCxnSpPr>
        <p:spPr>
          <a:xfrm flipH="1" flipV="1">
            <a:off x="2595055" y="5029313"/>
            <a:ext cx="5530739" cy="393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DF68C45-7DCF-407A-8A5B-5735C022690D}"/>
              </a:ext>
            </a:extLst>
          </p:cNvPr>
          <p:cNvSpPr txBox="1"/>
          <p:nvPr/>
        </p:nvSpPr>
        <p:spPr>
          <a:xfrm>
            <a:off x="6591094" y="5918554"/>
            <a:ext cx="522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87</a:t>
            </a:r>
            <a:endParaRPr lang="en-US" sz="16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7008C5E-2E26-41AA-98B0-50BAF193F091}"/>
              </a:ext>
            </a:extLst>
          </p:cNvPr>
          <p:cNvCxnSpPr>
            <a:cxnSpLocks/>
          </p:cNvCxnSpPr>
          <p:nvPr/>
        </p:nvCxnSpPr>
        <p:spPr>
          <a:xfrm flipV="1">
            <a:off x="6818424" y="574320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9A402AF-95D3-470A-AB45-7634C74DF746}"/>
              </a:ext>
            </a:extLst>
          </p:cNvPr>
          <p:cNvSpPr txBox="1"/>
          <p:nvPr/>
        </p:nvSpPr>
        <p:spPr>
          <a:xfrm>
            <a:off x="3819303" y="5918554"/>
            <a:ext cx="56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34.5</a:t>
            </a:r>
            <a:endParaRPr lang="en-US" sz="16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15CA7A9-2CFB-4B1D-985B-9088FEBBA4AE}"/>
              </a:ext>
            </a:extLst>
          </p:cNvPr>
          <p:cNvCxnSpPr>
            <a:cxnSpLocks/>
          </p:cNvCxnSpPr>
          <p:nvPr/>
        </p:nvCxnSpPr>
        <p:spPr>
          <a:xfrm flipV="1">
            <a:off x="4046633" y="5742310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46C53E2-6644-4C42-B870-33AAD046053F}"/>
              </a:ext>
            </a:extLst>
          </p:cNvPr>
          <p:cNvSpPr txBox="1"/>
          <p:nvPr/>
        </p:nvSpPr>
        <p:spPr>
          <a:xfrm>
            <a:off x="1994559" y="394109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r>
            <a:endParaRPr lang="en-US" sz="1600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CA994BE-23F9-4636-B535-794FB779D172}"/>
              </a:ext>
            </a:extLst>
          </p:cNvPr>
          <p:cNvCxnSpPr>
            <a:cxnSpLocks/>
          </p:cNvCxnSpPr>
          <p:nvPr/>
        </p:nvCxnSpPr>
        <p:spPr>
          <a:xfrm flipH="1">
            <a:off x="2413609" y="4096387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2F86795D-A9D0-47DD-B28D-F3DC7ED1E165}"/>
              </a:ext>
            </a:extLst>
          </p:cNvPr>
          <p:cNvCxnSpPr/>
          <p:nvPr/>
        </p:nvCxnSpPr>
        <p:spPr>
          <a:xfrm flipH="1">
            <a:off x="3509818" y="1911927"/>
            <a:ext cx="1006764" cy="526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8F15EED0-7FB8-4304-B2B8-F2364602CE36}"/>
              </a:ext>
            </a:extLst>
          </p:cNvPr>
          <p:cNvCxnSpPr/>
          <p:nvPr/>
        </p:nvCxnSpPr>
        <p:spPr>
          <a:xfrm flipH="1">
            <a:off x="5389045" y="2878888"/>
            <a:ext cx="1006764" cy="526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87CCF1CC-EBCB-40E4-A09D-F95D7F3D9C8E}"/>
              </a:ext>
            </a:extLst>
          </p:cNvPr>
          <p:cNvCxnSpPr/>
          <p:nvPr/>
        </p:nvCxnSpPr>
        <p:spPr>
          <a:xfrm flipH="1">
            <a:off x="7498816" y="3932610"/>
            <a:ext cx="1006764" cy="526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14745FF-90EA-41A8-AE7E-634C6CFA47C3}"/>
              </a:ext>
            </a:extLst>
          </p:cNvPr>
          <p:cNvSpPr txBox="1"/>
          <p:nvPr/>
        </p:nvSpPr>
        <p:spPr>
          <a:xfrm>
            <a:off x="4693730" y="1574800"/>
            <a:ext cx="14022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 252-4*Q</a:t>
            </a:r>
            <a:endParaRPr lang="en-US" sz="16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9A0459-104A-4F5D-B6FA-4F699E209F8A}"/>
              </a:ext>
            </a:extLst>
          </p:cNvPr>
          <p:cNvSpPr txBox="1"/>
          <p:nvPr/>
        </p:nvSpPr>
        <p:spPr>
          <a:xfrm>
            <a:off x="6395809" y="2514410"/>
            <a:ext cx="1602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P=160-(4/3)*Q</a:t>
            </a:r>
            <a:endParaRPr lang="en-US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AFF68D-CC14-4BBE-B4B3-16B08039B8D7}"/>
              </a:ext>
            </a:extLst>
          </p:cNvPr>
          <p:cNvSpPr txBox="1"/>
          <p:nvPr/>
        </p:nvSpPr>
        <p:spPr>
          <a:xfrm>
            <a:off x="8555919" y="3599551"/>
            <a:ext cx="16028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P=218-2*Q</a:t>
            </a:r>
            <a:endParaRPr lang="en-US" sz="16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0946C9F-7777-4A14-AFCC-F3508830FC0A}"/>
              </a:ext>
            </a:extLst>
          </p:cNvPr>
          <p:cNvCxnSpPr>
            <a:cxnSpLocks/>
          </p:cNvCxnSpPr>
          <p:nvPr/>
        </p:nvCxnSpPr>
        <p:spPr>
          <a:xfrm>
            <a:off x="2601800" y="1526819"/>
            <a:ext cx="653821" cy="1641297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A622EC2-DF5F-4183-B923-2C73027F4BEC}"/>
              </a:ext>
            </a:extLst>
          </p:cNvPr>
          <p:cNvCxnSpPr>
            <a:cxnSpLocks/>
          </p:cNvCxnSpPr>
          <p:nvPr/>
        </p:nvCxnSpPr>
        <p:spPr>
          <a:xfrm>
            <a:off x="3275447" y="3183068"/>
            <a:ext cx="1690983" cy="916951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1E05F5F-3CC8-4BBD-A55C-160356539907}"/>
              </a:ext>
            </a:extLst>
          </p:cNvPr>
          <p:cNvCxnSpPr>
            <a:cxnSpLocks/>
          </p:cNvCxnSpPr>
          <p:nvPr/>
        </p:nvCxnSpPr>
        <p:spPr>
          <a:xfrm>
            <a:off x="4967253" y="4092244"/>
            <a:ext cx="916773" cy="93426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E676B81-E808-43E2-9AFA-5DB84C431227}"/>
              </a:ext>
            </a:extLst>
          </p:cNvPr>
          <p:cNvCxnSpPr>
            <a:cxnSpLocks/>
          </p:cNvCxnSpPr>
          <p:nvPr/>
        </p:nvCxnSpPr>
        <p:spPr>
          <a:xfrm flipV="1">
            <a:off x="3255621" y="3194155"/>
            <a:ext cx="0" cy="255821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C3F0A99-1D47-4D64-A9F7-291CF0213B2C}"/>
              </a:ext>
            </a:extLst>
          </p:cNvPr>
          <p:cNvCxnSpPr>
            <a:cxnSpLocks/>
          </p:cNvCxnSpPr>
          <p:nvPr/>
        </p:nvCxnSpPr>
        <p:spPr>
          <a:xfrm flipV="1">
            <a:off x="4966430" y="4096387"/>
            <a:ext cx="0" cy="164539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AD21E86D-BA32-4855-BCB8-F92A69E9D502}"/>
              </a:ext>
            </a:extLst>
          </p:cNvPr>
          <p:cNvSpPr txBox="1"/>
          <p:nvPr/>
        </p:nvSpPr>
        <p:spPr>
          <a:xfrm>
            <a:off x="4729826" y="5918554"/>
            <a:ext cx="56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43.5</a:t>
            </a:r>
            <a:endParaRPr lang="en-US" sz="16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ACD7F5E-25D8-4873-8E34-14E566882558}"/>
              </a:ext>
            </a:extLst>
          </p:cNvPr>
          <p:cNvCxnSpPr>
            <a:cxnSpLocks/>
          </p:cNvCxnSpPr>
          <p:nvPr/>
        </p:nvCxnSpPr>
        <p:spPr>
          <a:xfrm flipV="1">
            <a:off x="4957156" y="574320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F3C4404-4543-448B-84C1-888E51686DD7}"/>
              </a:ext>
            </a:extLst>
          </p:cNvPr>
          <p:cNvSpPr txBox="1"/>
          <p:nvPr/>
        </p:nvSpPr>
        <p:spPr>
          <a:xfrm>
            <a:off x="2859215" y="5936497"/>
            <a:ext cx="6969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17.25</a:t>
            </a:r>
            <a:endParaRPr lang="en-US" sz="16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C1EB6DD-A9AB-4F4F-B361-F14CC1BCE7E7}"/>
              </a:ext>
            </a:extLst>
          </p:cNvPr>
          <p:cNvCxnSpPr>
            <a:cxnSpLocks/>
          </p:cNvCxnSpPr>
          <p:nvPr/>
        </p:nvCxnSpPr>
        <p:spPr>
          <a:xfrm flipV="1">
            <a:off x="3255621" y="5752365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9091105-2F55-44D8-A6A8-AA1BD5B6EB2B}"/>
              </a:ext>
            </a:extLst>
          </p:cNvPr>
          <p:cNvSpPr txBox="1"/>
          <p:nvPr/>
        </p:nvSpPr>
        <p:spPr>
          <a:xfrm>
            <a:off x="5763156" y="5896969"/>
            <a:ext cx="5223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lang="en-US" sz="1600" dirty="0"/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CCCB632-4963-468D-80C2-F8E99499AF2E}"/>
              </a:ext>
            </a:extLst>
          </p:cNvPr>
          <p:cNvCxnSpPr>
            <a:cxnSpLocks/>
          </p:cNvCxnSpPr>
          <p:nvPr/>
        </p:nvCxnSpPr>
        <p:spPr>
          <a:xfrm flipV="1">
            <a:off x="5888326" y="5721778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513C9EC-8D29-4B2A-A9FA-693AC9497027}"/>
              </a:ext>
            </a:extLst>
          </p:cNvPr>
          <p:cNvCxnSpPr>
            <a:cxnSpLocks/>
          </p:cNvCxnSpPr>
          <p:nvPr/>
        </p:nvCxnSpPr>
        <p:spPr>
          <a:xfrm flipV="1">
            <a:off x="5887837" y="5012711"/>
            <a:ext cx="0" cy="73062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BCD3D6B-CDAF-4AC0-AB4B-3E11FBF684EE}"/>
              </a:ext>
            </a:extLst>
          </p:cNvPr>
          <p:cNvCxnSpPr>
            <a:cxnSpLocks/>
          </p:cNvCxnSpPr>
          <p:nvPr/>
        </p:nvCxnSpPr>
        <p:spPr>
          <a:xfrm flipV="1">
            <a:off x="5640349" y="3692066"/>
            <a:ext cx="0" cy="2054075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EFC6AAD-1578-402F-B92A-F26615056D9E}"/>
              </a:ext>
            </a:extLst>
          </p:cNvPr>
          <p:cNvSpPr txBox="1"/>
          <p:nvPr/>
        </p:nvSpPr>
        <p:spPr>
          <a:xfrm>
            <a:off x="5414423" y="5879649"/>
            <a:ext cx="5698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</a:t>
            </a:r>
            <a:endParaRPr lang="en-US" sz="1600" dirty="0">
              <a:solidFill>
                <a:srgbClr val="00B050"/>
              </a:solidFill>
            </a:endParaRP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E5746C3-9650-4D2E-8BC3-F161B5792EE8}"/>
              </a:ext>
            </a:extLst>
          </p:cNvPr>
          <p:cNvCxnSpPr>
            <a:cxnSpLocks/>
          </p:cNvCxnSpPr>
          <p:nvPr/>
        </p:nvCxnSpPr>
        <p:spPr>
          <a:xfrm flipV="1">
            <a:off x="5631075" y="5747569"/>
            <a:ext cx="0" cy="132080"/>
          </a:xfrm>
          <a:prstGeom prst="straightConnector1">
            <a:avLst/>
          </a:prstGeom>
          <a:ln w="19050">
            <a:solidFill>
              <a:srgbClr val="00B05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298E38D-32ED-4696-91A8-3A03100C950E}"/>
              </a:ext>
            </a:extLst>
          </p:cNvPr>
          <p:cNvCxnSpPr>
            <a:cxnSpLocks/>
          </p:cNvCxnSpPr>
          <p:nvPr/>
        </p:nvCxnSpPr>
        <p:spPr>
          <a:xfrm flipH="1">
            <a:off x="2619394" y="3712528"/>
            <a:ext cx="3030228" cy="0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6F22F9B8-76BF-4B7B-8935-59D641B598BA}"/>
              </a:ext>
            </a:extLst>
          </p:cNvPr>
          <p:cNvSpPr txBox="1"/>
          <p:nvPr/>
        </p:nvSpPr>
        <p:spPr>
          <a:xfrm>
            <a:off x="1974893" y="3522042"/>
            <a:ext cx="752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</a:t>
            </a:r>
            <a:endParaRPr lang="en-US" sz="1600" dirty="0">
              <a:solidFill>
                <a:srgbClr val="00B050"/>
              </a:solidFill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D0EC044-B375-4017-ABB3-359CC0E30D3F}"/>
              </a:ext>
            </a:extLst>
          </p:cNvPr>
          <p:cNvCxnSpPr>
            <a:cxnSpLocks/>
          </p:cNvCxnSpPr>
          <p:nvPr/>
        </p:nvCxnSpPr>
        <p:spPr>
          <a:xfrm flipH="1">
            <a:off x="2430609" y="3712528"/>
            <a:ext cx="182880" cy="0"/>
          </a:xfrm>
          <a:prstGeom prst="straightConnector1">
            <a:avLst/>
          </a:prstGeom>
          <a:ln w="19050">
            <a:solidFill>
              <a:srgbClr val="00B05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6CA229B-EE6A-4108-9FD7-4594A3ABA079}"/>
              </a:ext>
            </a:extLst>
          </p:cNvPr>
          <p:cNvSpPr txBox="1"/>
          <p:nvPr/>
        </p:nvSpPr>
        <p:spPr>
          <a:xfrm>
            <a:off x="5873205" y="5029313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</p:spTree>
    <p:extLst>
      <p:ext uri="{BB962C8B-B14F-4D97-AF65-F5344CB8AC3E}">
        <p14:creationId xmlns:p14="http://schemas.microsoft.com/office/powerpoint/2010/main" val="4119729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6300-57E0-439B-8EB2-8E9EA8322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70EE2-6DFA-49A5-842C-5B422BA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461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 flipV="1">
            <a:off x="2590800" y="5092105"/>
            <a:ext cx="4669847" cy="33447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11583" y="1544449"/>
            <a:ext cx="2268859" cy="418390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7029792" y="4725521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274181" y="5373894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3934390" y="2713452"/>
            <a:ext cx="0" cy="302155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5158243-C4BB-42C0-8A5E-C3FA053B8021}"/>
              </a:ext>
            </a:extLst>
          </p:cNvPr>
          <p:cNvSpPr txBox="1"/>
          <p:nvPr/>
        </p:nvSpPr>
        <p:spPr>
          <a:xfrm>
            <a:off x="3640692" y="5845474"/>
            <a:ext cx="8410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2,750</a:t>
            </a:r>
            <a:endParaRPr lang="en-US" sz="16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428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 if markets were independent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3935319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3990342" y="238313"/>
            <a:ext cx="6342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&amp; MEDICAID market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8FECB7-9070-4E41-8990-B3F946AE4195}"/>
              </a:ext>
            </a:extLst>
          </p:cNvPr>
          <p:cNvSpPr txBox="1"/>
          <p:nvPr/>
        </p:nvSpPr>
        <p:spPr>
          <a:xfrm>
            <a:off x="1346936" y="3802948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948C9C-B116-4692-B3F6-BAD4E34BDD19}"/>
              </a:ext>
            </a:extLst>
          </p:cNvPr>
          <p:cNvCxnSpPr>
            <a:cxnSpLocks/>
          </p:cNvCxnSpPr>
          <p:nvPr/>
        </p:nvCxnSpPr>
        <p:spPr>
          <a:xfrm flipH="1">
            <a:off x="2443570" y="3949943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E2506D1-2479-4F0D-AAFA-9984C6B4A619}"/>
              </a:ext>
            </a:extLst>
          </p:cNvPr>
          <p:cNvCxnSpPr>
            <a:cxnSpLocks/>
          </p:cNvCxnSpPr>
          <p:nvPr/>
        </p:nvCxnSpPr>
        <p:spPr>
          <a:xfrm>
            <a:off x="2590800" y="3948795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B76596-09A5-4D6D-82CC-FBCEA33E2370}"/>
              </a:ext>
            </a:extLst>
          </p:cNvPr>
          <p:cNvSpPr txBox="1"/>
          <p:nvPr/>
        </p:nvSpPr>
        <p:spPr>
          <a:xfrm>
            <a:off x="4728372" y="5818514"/>
            <a:ext cx="1827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  <a:p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4,000</a:t>
            </a:r>
            <a:endParaRPr lang="en-US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8021A1-32E1-4F2F-BF4A-62473469FB2D}"/>
              </a:ext>
            </a:extLst>
          </p:cNvPr>
          <p:cNvCxnSpPr>
            <a:cxnSpLocks/>
          </p:cNvCxnSpPr>
          <p:nvPr/>
        </p:nvCxnSpPr>
        <p:spPr>
          <a:xfrm flipV="1">
            <a:off x="4876816" y="5731946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53437773-D303-4D4B-859B-8DDE37C1E74C}"/>
              </a:ext>
            </a:extLst>
          </p:cNvPr>
          <p:cNvSpPr/>
          <p:nvPr/>
        </p:nvSpPr>
        <p:spPr>
          <a:xfrm rot="16200000">
            <a:off x="4753421" y="5581618"/>
            <a:ext cx="253119" cy="1827354"/>
          </a:xfrm>
          <a:prstGeom prst="leftBrace">
            <a:avLst>
              <a:gd name="adj1" fmla="val 90178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E09B1D-B0FD-4455-B79C-F47D125FB462}"/>
              </a:ext>
            </a:extLst>
          </p:cNvPr>
          <p:cNvSpPr txBox="1"/>
          <p:nvPr/>
        </p:nvSpPr>
        <p:spPr>
          <a:xfrm>
            <a:off x="4004022" y="6523195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2,000</a:t>
            </a:r>
            <a:endParaRPr 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DF7622-ECD7-4336-933B-A83E1F54CF35}"/>
              </a:ext>
            </a:extLst>
          </p:cNvPr>
          <p:cNvSpPr txBox="1"/>
          <p:nvPr/>
        </p:nvSpPr>
        <p:spPr>
          <a:xfrm>
            <a:off x="1767840" y="493656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US" sz="16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DA98A4-9753-4E09-8203-F0137314D1B6}"/>
              </a:ext>
            </a:extLst>
          </p:cNvPr>
          <p:cNvCxnSpPr>
            <a:cxnSpLocks/>
          </p:cNvCxnSpPr>
          <p:nvPr/>
        </p:nvCxnSpPr>
        <p:spPr>
          <a:xfrm flipH="1">
            <a:off x="2394995" y="511092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1CC9-4214-41A4-8E50-860CD8E0AFB0}"/>
              </a:ext>
            </a:extLst>
          </p:cNvPr>
          <p:cNvCxnSpPr>
            <a:cxnSpLocks/>
          </p:cNvCxnSpPr>
          <p:nvPr/>
        </p:nvCxnSpPr>
        <p:spPr>
          <a:xfrm>
            <a:off x="2630117" y="1508221"/>
            <a:ext cx="1304459" cy="2410463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DB06FE0-70F4-4873-89C2-93C8A7B6C024}"/>
              </a:ext>
            </a:extLst>
          </p:cNvPr>
          <p:cNvCxnSpPr>
            <a:cxnSpLocks/>
          </p:cNvCxnSpPr>
          <p:nvPr/>
        </p:nvCxnSpPr>
        <p:spPr>
          <a:xfrm flipV="1">
            <a:off x="3903361" y="3892223"/>
            <a:ext cx="1627224" cy="4149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340F1E-6A3D-4618-9D9F-2FB67409BF11}"/>
              </a:ext>
            </a:extLst>
          </p:cNvPr>
          <p:cNvCxnSpPr>
            <a:cxnSpLocks/>
          </p:cNvCxnSpPr>
          <p:nvPr/>
        </p:nvCxnSpPr>
        <p:spPr>
          <a:xfrm>
            <a:off x="5526802" y="3882221"/>
            <a:ext cx="1398090" cy="1852784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4EDB53C-479B-43D4-B441-86E2B122275D}"/>
              </a:ext>
            </a:extLst>
          </p:cNvPr>
          <p:cNvSpPr txBox="1"/>
          <p:nvPr/>
        </p:nvSpPr>
        <p:spPr>
          <a:xfrm>
            <a:off x="6188847" y="5420577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MR’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F1A2307-50D7-492D-A32C-B497C9749767}"/>
              </a:ext>
            </a:extLst>
          </p:cNvPr>
          <p:cNvSpPr/>
          <p:nvPr/>
        </p:nvSpPr>
        <p:spPr>
          <a:xfrm>
            <a:off x="3821142" y="3824723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6E125E-C8B1-442B-BA7A-039E25CC7881}"/>
              </a:ext>
            </a:extLst>
          </p:cNvPr>
          <p:cNvSpPr/>
          <p:nvPr/>
        </p:nvSpPr>
        <p:spPr>
          <a:xfrm>
            <a:off x="7375232" y="1665688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E040D1-EBA8-4C83-809D-3D44BAE8FB11}"/>
              </a:ext>
            </a:extLst>
          </p:cNvPr>
          <p:cNvSpPr txBox="1"/>
          <p:nvPr/>
        </p:nvSpPr>
        <p:spPr>
          <a:xfrm>
            <a:off x="7823201" y="1519882"/>
            <a:ext cx="428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16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2FDAFEF-C330-4F84-BD7F-4C305CDF8419}"/>
              </a:ext>
            </a:extLst>
          </p:cNvPr>
          <p:cNvCxnSpPr>
            <a:cxnSpLocks/>
          </p:cNvCxnSpPr>
          <p:nvPr/>
        </p:nvCxnSpPr>
        <p:spPr>
          <a:xfrm>
            <a:off x="4879627" y="2612225"/>
            <a:ext cx="14567" cy="3122780"/>
          </a:xfrm>
          <a:prstGeom prst="straightConnector1">
            <a:avLst/>
          </a:prstGeom>
          <a:ln w="34925">
            <a:solidFill>
              <a:schemeClr val="bg1">
                <a:lumMod val="50000"/>
              </a:schemeClr>
            </a:solidFill>
            <a:prstDash val="solid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C9E179F-0DBE-4160-A615-8ADC0EAAAB45}"/>
              </a:ext>
            </a:extLst>
          </p:cNvPr>
          <p:cNvCxnSpPr>
            <a:cxnSpLocks/>
          </p:cNvCxnSpPr>
          <p:nvPr/>
        </p:nvCxnSpPr>
        <p:spPr>
          <a:xfrm>
            <a:off x="2611120" y="2712755"/>
            <a:ext cx="1318686" cy="69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6F9E138-2DFF-4534-B73B-E353CE3E786F}"/>
              </a:ext>
            </a:extLst>
          </p:cNvPr>
          <p:cNvSpPr txBox="1"/>
          <p:nvPr/>
        </p:nvSpPr>
        <p:spPr>
          <a:xfrm>
            <a:off x="1384299" y="2517350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5,250</a:t>
            </a:r>
            <a:endParaRPr lang="en-US" sz="1600" b="1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E10BA82-F7D5-46D9-A13D-3415183736AF}"/>
              </a:ext>
            </a:extLst>
          </p:cNvPr>
          <p:cNvCxnSpPr>
            <a:cxnSpLocks/>
          </p:cNvCxnSpPr>
          <p:nvPr/>
        </p:nvCxnSpPr>
        <p:spPr>
          <a:xfrm flipH="1">
            <a:off x="2411939" y="2712755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0A40B2-EB05-45DA-8750-EF9F466BC669}"/>
              </a:ext>
            </a:extLst>
          </p:cNvPr>
          <p:cNvCxnSpPr>
            <a:cxnSpLocks/>
          </p:cNvCxnSpPr>
          <p:nvPr/>
        </p:nvCxnSpPr>
        <p:spPr>
          <a:xfrm>
            <a:off x="3930764" y="2686627"/>
            <a:ext cx="946052" cy="0"/>
          </a:xfrm>
          <a:prstGeom prst="straightConnector1">
            <a:avLst/>
          </a:prstGeom>
          <a:ln w="34925">
            <a:solidFill>
              <a:schemeClr val="bg2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E016385-06E0-4638-8700-452A66B0D465}"/>
              </a:ext>
            </a:extLst>
          </p:cNvPr>
          <p:cNvSpPr txBox="1"/>
          <p:nvPr/>
        </p:nvSpPr>
        <p:spPr>
          <a:xfrm>
            <a:off x="3612485" y="1607012"/>
            <a:ext cx="17671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Medicaid patients admitted = 1,250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154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 flipV="1">
            <a:off x="2590800" y="5092105"/>
            <a:ext cx="4669847" cy="33447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11583" y="1544449"/>
            <a:ext cx="2268859" cy="418390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7029792" y="4725521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274181" y="5373894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C15F37A-1DF1-4799-ACA0-7A6E06EB42DD}"/>
              </a:ext>
            </a:extLst>
          </p:cNvPr>
          <p:cNvCxnSpPr>
            <a:cxnSpLocks/>
          </p:cNvCxnSpPr>
          <p:nvPr/>
        </p:nvCxnSpPr>
        <p:spPr>
          <a:xfrm>
            <a:off x="3934390" y="2713452"/>
            <a:ext cx="0" cy="302155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428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 if markets were independent</a:t>
            </a:r>
            <a:endParaRPr lang="en-US" sz="16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7F75A8C-CADD-46C9-A59A-3EDBBCEE3FF6}"/>
              </a:ext>
            </a:extLst>
          </p:cNvPr>
          <p:cNvCxnSpPr>
            <a:cxnSpLocks/>
          </p:cNvCxnSpPr>
          <p:nvPr/>
        </p:nvCxnSpPr>
        <p:spPr>
          <a:xfrm flipV="1">
            <a:off x="3935319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3990342" y="238313"/>
            <a:ext cx="6342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&amp; MEDICAID market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8FECB7-9070-4E41-8990-B3F946AE4195}"/>
              </a:ext>
            </a:extLst>
          </p:cNvPr>
          <p:cNvSpPr txBox="1"/>
          <p:nvPr/>
        </p:nvSpPr>
        <p:spPr>
          <a:xfrm>
            <a:off x="1346936" y="3802948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4948C9C-B116-4692-B3F6-BAD4E34BDD19}"/>
              </a:ext>
            </a:extLst>
          </p:cNvPr>
          <p:cNvCxnSpPr>
            <a:cxnSpLocks/>
          </p:cNvCxnSpPr>
          <p:nvPr/>
        </p:nvCxnSpPr>
        <p:spPr>
          <a:xfrm flipH="1">
            <a:off x="2443570" y="3949943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E2506D1-2479-4F0D-AAFA-9984C6B4A619}"/>
              </a:ext>
            </a:extLst>
          </p:cNvPr>
          <p:cNvCxnSpPr>
            <a:cxnSpLocks/>
          </p:cNvCxnSpPr>
          <p:nvPr/>
        </p:nvCxnSpPr>
        <p:spPr>
          <a:xfrm>
            <a:off x="2590800" y="3948795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  <a:alpha val="38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B76596-09A5-4D6D-82CC-FBCEA33E2370}"/>
              </a:ext>
            </a:extLst>
          </p:cNvPr>
          <p:cNvSpPr txBox="1"/>
          <p:nvPr/>
        </p:nvSpPr>
        <p:spPr>
          <a:xfrm>
            <a:off x="4728372" y="5818514"/>
            <a:ext cx="1827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  <a:p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4,000</a:t>
            </a:r>
            <a:endParaRPr lang="en-US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8021A1-32E1-4F2F-BF4A-62473469FB2D}"/>
              </a:ext>
            </a:extLst>
          </p:cNvPr>
          <p:cNvCxnSpPr>
            <a:cxnSpLocks/>
          </p:cNvCxnSpPr>
          <p:nvPr/>
        </p:nvCxnSpPr>
        <p:spPr>
          <a:xfrm flipV="1">
            <a:off x="4876816" y="5731946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53437773-D303-4D4B-859B-8DDE37C1E74C}"/>
              </a:ext>
            </a:extLst>
          </p:cNvPr>
          <p:cNvSpPr/>
          <p:nvPr/>
        </p:nvSpPr>
        <p:spPr>
          <a:xfrm rot="16200000">
            <a:off x="4927848" y="5626427"/>
            <a:ext cx="253119" cy="1732202"/>
          </a:xfrm>
          <a:prstGeom prst="leftBrace">
            <a:avLst>
              <a:gd name="adj1" fmla="val 90178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E09B1D-B0FD-4455-B79C-F47D125FB462}"/>
              </a:ext>
            </a:extLst>
          </p:cNvPr>
          <p:cNvSpPr txBox="1"/>
          <p:nvPr/>
        </p:nvSpPr>
        <p:spPr>
          <a:xfrm>
            <a:off x="4165746" y="6520224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2,000</a:t>
            </a:r>
            <a:endParaRPr 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DF7622-ECD7-4336-933B-A83E1F54CF35}"/>
              </a:ext>
            </a:extLst>
          </p:cNvPr>
          <p:cNvSpPr txBox="1"/>
          <p:nvPr/>
        </p:nvSpPr>
        <p:spPr>
          <a:xfrm>
            <a:off x="1767840" y="493656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US" sz="16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DA98A4-9753-4E09-8203-F0137314D1B6}"/>
              </a:ext>
            </a:extLst>
          </p:cNvPr>
          <p:cNvCxnSpPr>
            <a:cxnSpLocks/>
          </p:cNvCxnSpPr>
          <p:nvPr/>
        </p:nvCxnSpPr>
        <p:spPr>
          <a:xfrm flipH="1">
            <a:off x="2394995" y="511092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1CC9-4214-41A4-8E50-860CD8E0AFB0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2630117" y="1508221"/>
            <a:ext cx="1481925" cy="2699095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DB06FE0-70F4-4873-89C2-93C8A7B6C024}"/>
              </a:ext>
            </a:extLst>
          </p:cNvPr>
          <p:cNvCxnSpPr>
            <a:cxnSpLocks/>
          </p:cNvCxnSpPr>
          <p:nvPr/>
        </p:nvCxnSpPr>
        <p:spPr>
          <a:xfrm>
            <a:off x="3912582" y="3916000"/>
            <a:ext cx="1572363" cy="0"/>
          </a:xfrm>
          <a:prstGeom prst="line">
            <a:avLst/>
          </a:prstGeom>
          <a:ln w="41275">
            <a:solidFill>
              <a:srgbClr val="7030A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340F1E-6A3D-4618-9D9F-2FB67409BF11}"/>
              </a:ext>
            </a:extLst>
          </p:cNvPr>
          <p:cNvCxnSpPr>
            <a:cxnSpLocks/>
          </p:cNvCxnSpPr>
          <p:nvPr/>
        </p:nvCxnSpPr>
        <p:spPr>
          <a:xfrm>
            <a:off x="5793658" y="4320692"/>
            <a:ext cx="1131234" cy="1414313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4EDB53C-479B-43D4-B441-86E2B122275D}"/>
              </a:ext>
            </a:extLst>
          </p:cNvPr>
          <p:cNvSpPr txBox="1"/>
          <p:nvPr/>
        </p:nvSpPr>
        <p:spPr>
          <a:xfrm>
            <a:off x="6188847" y="5420577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MR’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6E125E-C8B1-442B-BA7A-039E25CC7881}"/>
              </a:ext>
            </a:extLst>
          </p:cNvPr>
          <p:cNvSpPr/>
          <p:nvPr/>
        </p:nvSpPr>
        <p:spPr>
          <a:xfrm>
            <a:off x="7375232" y="1665688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E040D1-EBA8-4C83-809D-3D44BAE8FB11}"/>
              </a:ext>
            </a:extLst>
          </p:cNvPr>
          <p:cNvSpPr txBox="1"/>
          <p:nvPr/>
        </p:nvSpPr>
        <p:spPr>
          <a:xfrm>
            <a:off x="7823201" y="1519882"/>
            <a:ext cx="428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16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2FDAFEF-C330-4F84-BD7F-4C305CDF8419}"/>
              </a:ext>
            </a:extLst>
          </p:cNvPr>
          <p:cNvCxnSpPr>
            <a:cxnSpLocks/>
          </p:cNvCxnSpPr>
          <p:nvPr/>
        </p:nvCxnSpPr>
        <p:spPr>
          <a:xfrm>
            <a:off x="4879627" y="2612225"/>
            <a:ext cx="14567" cy="3122780"/>
          </a:xfrm>
          <a:prstGeom prst="straightConnector1">
            <a:avLst/>
          </a:prstGeom>
          <a:ln w="34925">
            <a:solidFill>
              <a:schemeClr val="bg1">
                <a:lumMod val="50000"/>
              </a:schemeClr>
            </a:solidFill>
            <a:prstDash val="solid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C9E179F-0DBE-4160-A615-8ADC0EAAAB45}"/>
              </a:ext>
            </a:extLst>
          </p:cNvPr>
          <p:cNvCxnSpPr>
            <a:cxnSpLocks/>
          </p:cNvCxnSpPr>
          <p:nvPr/>
        </p:nvCxnSpPr>
        <p:spPr>
          <a:xfrm>
            <a:off x="2611120" y="2712755"/>
            <a:ext cx="1318686" cy="69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D6F9E138-2DFF-4534-B73B-E353CE3E786F}"/>
              </a:ext>
            </a:extLst>
          </p:cNvPr>
          <p:cNvSpPr txBox="1"/>
          <p:nvPr/>
        </p:nvSpPr>
        <p:spPr>
          <a:xfrm>
            <a:off x="1404655" y="2517083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5,250</a:t>
            </a:r>
            <a:endParaRPr lang="en-US" sz="1600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E10BA82-F7D5-46D9-A13D-3415183736AF}"/>
              </a:ext>
            </a:extLst>
          </p:cNvPr>
          <p:cNvCxnSpPr>
            <a:cxnSpLocks/>
          </p:cNvCxnSpPr>
          <p:nvPr/>
        </p:nvCxnSpPr>
        <p:spPr>
          <a:xfrm flipH="1">
            <a:off x="2411939" y="2712755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0A40B2-EB05-45DA-8750-EF9F466BC669}"/>
              </a:ext>
            </a:extLst>
          </p:cNvPr>
          <p:cNvCxnSpPr>
            <a:cxnSpLocks/>
          </p:cNvCxnSpPr>
          <p:nvPr/>
        </p:nvCxnSpPr>
        <p:spPr>
          <a:xfrm>
            <a:off x="4133467" y="2863719"/>
            <a:ext cx="685864" cy="0"/>
          </a:xfrm>
          <a:prstGeom prst="straightConnector1">
            <a:avLst/>
          </a:prstGeom>
          <a:ln w="34925">
            <a:solidFill>
              <a:schemeClr val="bg2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E016385-06E0-4638-8700-452A66B0D465}"/>
              </a:ext>
            </a:extLst>
          </p:cNvPr>
          <p:cNvSpPr txBox="1"/>
          <p:nvPr/>
        </p:nvSpPr>
        <p:spPr>
          <a:xfrm>
            <a:off x="3612277" y="1726637"/>
            <a:ext cx="17671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Medicaid patients admitted = 1,000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1C518A-BA5A-4492-A5CD-7E621E02DD03}"/>
              </a:ext>
            </a:extLst>
          </p:cNvPr>
          <p:cNvSpPr txBox="1"/>
          <p:nvPr/>
        </p:nvSpPr>
        <p:spPr>
          <a:xfrm>
            <a:off x="1112809" y="4188733"/>
            <a:ext cx="131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2,000</a:t>
            </a:r>
            <a:endParaRPr lang="en-US" sz="16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1EF7F27-D857-499B-A116-ACE953D2BC7B}"/>
              </a:ext>
            </a:extLst>
          </p:cNvPr>
          <p:cNvCxnSpPr>
            <a:cxnSpLocks/>
          </p:cNvCxnSpPr>
          <p:nvPr/>
        </p:nvCxnSpPr>
        <p:spPr>
          <a:xfrm>
            <a:off x="2597831" y="4334580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C706A2A-7367-4367-8EC0-C52A6E72D260}"/>
              </a:ext>
            </a:extLst>
          </p:cNvPr>
          <p:cNvCxnSpPr>
            <a:cxnSpLocks/>
          </p:cNvCxnSpPr>
          <p:nvPr/>
        </p:nvCxnSpPr>
        <p:spPr>
          <a:xfrm flipH="1">
            <a:off x="2428240" y="43345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7E376FC6-29A9-481C-B959-7D168DA7532F}"/>
              </a:ext>
            </a:extLst>
          </p:cNvPr>
          <p:cNvSpPr/>
          <p:nvPr/>
        </p:nvSpPr>
        <p:spPr>
          <a:xfrm>
            <a:off x="4020602" y="4207316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098EEC4-B6B9-4684-A077-583FE56E0289}"/>
              </a:ext>
            </a:extLst>
          </p:cNvPr>
          <p:cNvCxnSpPr>
            <a:cxnSpLocks/>
          </p:cNvCxnSpPr>
          <p:nvPr/>
        </p:nvCxnSpPr>
        <p:spPr>
          <a:xfrm flipV="1">
            <a:off x="4158848" y="4320692"/>
            <a:ext cx="1627224" cy="4149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EB0F88A-7DAD-432D-8597-14D6CD6DBDC5}"/>
              </a:ext>
            </a:extLst>
          </p:cNvPr>
          <p:cNvCxnSpPr>
            <a:cxnSpLocks/>
          </p:cNvCxnSpPr>
          <p:nvPr/>
        </p:nvCxnSpPr>
        <p:spPr>
          <a:xfrm>
            <a:off x="5484946" y="3918684"/>
            <a:ext cx="284853" cy="380072"/>
          </a:xfrm>
          <a:prstGeom prst="line">
            <a:avLst/>
          </a:prstGeom>
          <a:ln w="41275">
            <a:solidFill>
              <a:srgbClr val="7030A0">
                <a:alpha val="47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3028D71-9BC3-42C1-937C-F3EBDC4EA61A}"/>
              </a:ext>
            </a:extLst>
          </p:cNvPr>
          <p:cNvSpPr txBox="1"/>
          <p:nvPr/>
        </p:nvSpPr>
        <p:spPr>
          <a:xfrm>
            <a:off x="3871119" y="5837925"/>
            <a:ext cx="8410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PI, new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3,000</a:t>
            </a:r>
            <a:endParaRPr lang="en-US" sz="160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300775B-C89F-42D9-8E0A-0C38D1698117}"/>
              </a:ext>
            </a:extLst>
          </p:cNvPr>
          <p:cNvCxnSpPr>
            <a:cxnSpLocks/>
          </p:cNvCxnSpPr>
          <p:nvPr/>
        </p:nvCxnSpPr>
        <p:spPr>
          <a:xfrm flipV="1">
            <a:off x="4165746" y="5732850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30AA303-06CF-49E7-B78A-941D3645D899}"/>
              </a:ext>
            </a:extLst>
          </p:cNvPr>
          <p:cNvCxnSpPr>
            <a:cxnSpLocks/>
          </p:cNvCxnSpPr>
          <p:nvPr/>
        </p:nvCxnSpPr>
        <p:spPr>
          <a:xfrm>
            <a:off x="4158848" y="2937164"/>
            <a:ext cx="6898" cy="279784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CA6F8E6-0B92-4E09-B272-1053B477439C}"/>
              </a:ext>
            </a:extLst>
          </p:cNvPr>
          <p:cNvCxnSpPr>
            <a:cxnSpLocks/>
          </p:cNvCxnSpPr>
          <p:nvPr/>
        </p:nvCxnSpPr>
        <p:spPr>
          <a:xfrm>
            <a:off x="2661920" y="2917715"/>
            <a:ext cx="1506955" cy="661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7B6632F-53FE-49C0-9902-DCCF16690F20}"/>
              </a:ext>
            </a:extLst>
          </p:cNvPr>
          <p:cNvSpPr txBox="1"/>
          <p:nvPr/>
        </p:nvSpPr>
        <p:spPr>
          <a:xfrm>
            <a:off x="1245844" y="2742511"/>
            <a:ext cx="13037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b="1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F41E142-7F47-4B0A-8C05-1FC1E5FABCE1}"/>
              </a:ext>
            </a:extLst>
          </p:cNvPr>
          <p:cNvCxnSpPr>
            <a:cxnSpLocks/>
          </p:cNvCxnSpPr>
          <p:nvPr/>
        </p:nvCxnSpPr>
        <p:spPr>
          <a:xfrm flipH="1">
            <a:off x="2428240" y="292636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BDB25C8-995D-4808-A25B-10C5C6177193}"/>
              </a:ext>
            </a:extLst>
          </p:cNvPr>
          <p:cNvCxnSpPr>
            <a:cxnSpLocks/>
          </p:cNvCxnSpPr>
          <p:nvPr/>
        </p:nvCxnSpPr>
        <p:spPr>
          <a:xfrm>
            <a:off x="2508819" y="2742511"/>
            <a:ext cx="0" cy="15562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39D9381-FEE2-4FDE-BE4D-ABCA3B06E14C}"/>
              </a:ext>
            </a:extLst>
          </p:cNvPr>
          <p:cNvCxnSpPr>
            <a:cxnSpLocks/>
          </p:cNvCxnSpPr>
          <p:nvPr/>
        </p:nvCxnSpPr>
        <p:spPr>
          <a:xfrm flipV="1">
            <a:off x="3966444" y="5859819"/>
            <a:ext cx="178959" cy="78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083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 flipV="1">
            <a:off x="2590800" y="5092105"/>
            <a:ext cx="4669847" cy="33447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11583" y="1544449"/>
            <a:ext cx="2268859" cy="418390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7029792" y="4725521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274181" y="5373894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428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 if markets were independent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3990342" y="238313"/>
            <a:ext cx="6342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&amp; MEDICAID market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B76596-09A5-4D6D-82CC-FBCEA33E2370}"/>
              </a:ext>
            </a:extLst>
          </p:cNvPr>
          <p:cNvSpPr txBox="1"/>
          <p:nvPr/>
        </p:nvSpPr>
        <p:spPr>
          <a:xfrm>
            <a:off x="5652518" y="5837925"/>
            <a:ext cx="1827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  <a:p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8021A1-32E1-4F2F-BF4A-62473469FB2D}"/>
              </a:ext>
            </a:extLst>
          </p:cNvPr>
          <p:cNvCxnSpPr>
            <a:cxnSpLocks/>
          </p:cNvCxnSpPr>
          <p:nvPr/>
        </p:nvCxnSpPr>
        <p:spPr>
          <a:xfrm flipV="1">
            <a:off x="5800962" y="5751357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53437773-D303-4D4B-859B-8DDE37C1E74C}"/>
              </a:ext>
            </a:extLst>
          </p:cNvPr>
          <p:cNvSpPr/>
          <p:nvPr/>
        </p:nvSpPr>
        <p:spPr>
          <a:xfrm rot="16200000">
            <a:off x="4864423" y="5689852"/>
            <a:ext cx="253119" cy="1605352"/>
          </a:xfrm>
          <a:prstGeom prst="leftBrace">
            <a:avLst>
              <a:gd name="adj1" fmla="val 90178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E09B1D-B0FD-4455-B79C-F47D125FB462}"/>
              </a:ext>
            </a:extLst>
          </p:cNvPr>
          <p:cNvSpPr txBox="1"/>
          <p:nvPr/>
        </p:nvSpPr>
        <p:spPr>
          <a:xfrm>
            <a:off x="4165746" y="6520224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2,000</a:t>
            </a:r>
            <a:endParaRPr 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DF7622-ECD7-4336-933B-A83E1F54CF35}"/>
              </a:ext>
            </a:extLst>
          </p:cNvPr>
          <p:cNvSpPr txBox="1"/>
          <p:nvPr/>
        </p:nvSpPr>
        <p:spPr>
          <a:xfrm>
            <a:off x="1767840" y="493656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US" sz="16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DA98A4-9753-4E09-8203-F0137314D1B6}"/>
              </a:ext>
            </a:extLst>
          </p:cNvPr>
          <p:cNvCxnSpPr>
            <a:cxnSpLocks/>
          </p:cNvCxnSpPr>
          <p:nvPr/>
        </p:nvCxnSpPr>
        <p:spPr>
          <a:xfrm flipH="1">
            <a:off x="2394995" y="511092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1CC9-4214-41A4-8E50-860CD8E0AFB0}"/>
              </a:ext>
            </a:extLst>
          </p:cNvPr>
          <p:cNvCxnSpPr>
            <a:cxnSpLocks/>
            <a:endCxn id="53" idx="0"/>
          </p:cNvCxnSpPr>
          <p:nvPr/>
        </p:nvCxnSpPr>
        <p:spPr>
          <a:xfrm>
            <a:off x="2630117" y="1508221"/>
            <a:ext cx="1481925" cy="2699095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340F1E-6A3D-4618-9D9F-2FB67409BF11}"/>
              </a:ext>
            </a:extLst>
          </p:cNvPr>
          <p:cNvCxnSpPr>
            <a:cxnSpLocks/>
          </p:cNvCxnSpPr>
          <p:nvPr/>
        </p:nvCxnSpPr>
        <p:spPr>
          <a:xfrm>
            <a:off x="5793658" y="4320692"/>
            <a:ext cx="1131234" cy="1414313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4EDB53C-479B-43D4-B441-86E2B122275D}"/>
              </a:ext>
            </a:extLst>
          </p:cNvPr>
          <p:cNvSpPr txBox="1"/>
          <p:nvPr/>
        </p:nvSpPr>
        <p:spPr>
          <a:xfrm>
            <a:off x="6188847" y="5420577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MR’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6E125E-C8B1-442B-BA7A-039E25CC7881}"/>
              </a:ext>
            </a:extLst>
          </p:cNvPr>
          <p:cNvSpPr/>
          <p:nvPr/>
        </p:nvSpPr>
        <p:spPr>
          <a:xfrm>
            <a:off x="7375232" y="1665688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E040D1-EBA8-4C83-809D-3D44BAE8FB11}"/>
              </a:ext>
            </a:extLst>
          </p:cNvPr>
          <p:cNvSpPr txBox="1"/>
          <p:nvPr/>
        </p:nvSpPr>
        <p:spPr>
          <a:xfrm>
            <a:off x="7823201" y="1519882"/>
            <a:ext cx="428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16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2FDAFEF-C330-4F84-BD7F-4C305CDF8419}"/>
              </a:ext>
            </a:extLst>
          </p:cNvPr>
          <p:cNvCxnSpPr>
            <a:cxnSpLocks/>
          </p:cNvCxnSpPr>
          <p:nvPr/>
        </p:nvCxnSpPr>
        <p:spPr>
          <a:xfrm>
            <a:off x="4879627" y="2612225"/>
            <a:ext cx="14567" cy="3122780"/>
          </a:xfrm>
          <a:prstGeom prst="straightConnector1">
            <a:avLst/>
          </a:prstGeom>
          <a:ln w="34925">
            <a:solidFill>
              <a:schemeClr val="bg1">
                <a:lumMod val="50000"/>
                <a:alpha val="44000"/>
              </a:schemeClr>
            </a:solidFill>
            <a:prstDash val="solid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0A40B2-EB05-45DA-8750-EF9F466BC669}"/>
              </a:ext>
            </a:extLst>
          </p:cNvPr>
          <p:cNvCxnSpPr>
            <a:cxnSpLocks/>
          </p:cNvCxnSpPr>
          <p:nvPr/>
        </p:nvCxnSpPr>
        <p:spPr>
          <a:xfrm>
            <a:off x="4133467" y="2863719"/>
            <a:ext cx="1644148" cy="0"/>
          </a:xfrm>
          <a:prstGeom prst="straightConnector1">
            <a:avLst/>
          </a:prstGeom>
          <a:ln w="34925">
            <a:solidFill>
              <a:schemeClr val="bg2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E016385-06E0-4638-8700-452A66B0D465}"/>
              </a:ext>
            </a:extLst>
          </p:cNvPr>
          <p:cNvSpPr txBox="1"/>
          <p:nvPr/>
        </p:nvSpPr>
        <p:spPr>
          <a:xfrm>
            <a:off x="4071983" y="1708743"/>
            <a:ext cx="17671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Medicaid patients admitted = 2,000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1C518A-BA5A-4492-A5CD-7E621E02DD03}"/>
              </a:ext>
            </a:extLst>
          </p:cNvPr>
          <p:cNvSpPr txBox="1"/>
          <p:nvPr/>
        </p:nvSpPr>
        <p:spPr>
          <a:xfrm>
            <a:off x="1112809" y="4188733"/>
            <a:ext cx="131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2,000</a:t>
            </a:r>
            <a:endParaRPr lang="en-US" sz="16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1EF7F27-D857-499B-A116-ACE953D2BC7B}"/>
              </a:ext>
            </a:extLst>
          </p:cNvPr>
          <p:cNvCxnSpPr>
            <a:cxnSpLocks/>
          </p:cNvCxnSpPr>
          <p:nvPr/>
        </p:nvCxnSpPr>
        <p:spPr>
          <a:xfrm>
            <a:off x="2597831" y="4334580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C706A2A-7367-4367-8EC0-C52A6E72D260}"/>
              </a:ext>
            </a:extLst>
          </p:cNvPr>
          <p:cNvCxnSpPr>
            <a:cxnSpLocks/>
          </p:cNvCxnSpPr>
          <p:nvPr/>
        </p:nvCxnSpPr>
        <p:spPr>
          <a:xfrm flipH="1">
            <a:off x="2428240" y="43345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7E376FC6-29A9-481C-B959-7D168DA7532F}"/>
              </a:ext>
            </a:extLst>
          </p:cNvPr>
          <p:cNvSpPr/>
          <p:nvPr/>
        </p:nvSpPr>
        <p:spPr>
          <a:xfrm>
            <a:off x="4020602" y="4207316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098EEC4-B6B9-4684-A077-583FE56E0289}"/>
              </a:ext>
            </a:extLst>
          </p:cNvPr>
          <p:cNvCxnSpPr>
            <a:cxnSpLocks/>
          </p:cNvCxnSpPr>
          <p:nvPr/>
        </p:nvCxnSpPr>
        <p:spPr>
          <a:xfrm flipV="1">
            <a:off x="4158848" y="4320692"/>
            <a:ext cx="1627224" cy="4149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3028D71-9BC3-42C1-937C-F3EBDC4EA61A}"/>
              </a:ext>
            </a:extLst>
          </p:cNvPr>
          <p:cNvSpPr txBox="1"/>
          <p:nvPr/>
        </p:nvSpPr>
        <p:spPr>
          <a:xfrm>
            <a:off x="3871119" y="5837925"/>
            <a:ext cx="8410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PI, new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3,000</a:t>
            </a:r>
            <a:endParaRPr lang="en-US" sz="160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300775B-C89F-42D9-8E0A-0C38D1698117}"/>
              </a:ext>
            </a:extLst>
          </p:cNvPr>
          <p:cNvCxnSpPr>
            <a:cxnSpLocks/>
          </p:cNvCxnSpPr>
          <p:nvPr/>
        </p:nvCxnSpPr>
        <p:spPr>
          <a:xfrm flipV="1">
            <a:off x="4165746" y="5732850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30AA303-06CF-49E7-B78A-941D3645D899}"/>
              </a:ext>
            </a:extLst>
          </p:cNvPr>
          <p:cNvCxnSpPr>
            <a:cxnSpLocks/>
          </p:cNvCxnSpPr>
          <p:nvPr/>
        </p:nvCxnSpPr>
        <p:spPr>
          <a:xfrm>
            <a:off x="4158848" y="2937164"/>
            <a:ext cx="6898" cy="279784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CA6F8E6-0B92-4E09-B272-1053B477439C}"/>
              </a:ext>
            </a:extLst>
          </p:cNvPr>
          <p:cNvCxnSpPr>
            <a:cxnSpLocks/>
          </p:cNvCxnSpPr>
          <p:nvPr/>
        </p:nvCxnSpPr>
        <p:spPr>
          <a:xfrm>
            <a:off x="2661920" y="2917715"/>
            <a:ext cx="1506955" cy="661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7B6632F-53FE-49C0-9902-DCCF16690F20}"/>
              </a:ext>
            </a:extLst>
          </p:cNvPr>
          <p:cNvSpPr txBox="1"/>
          <p:nvPr/>
        </p:nvSpPr>
        <p:spPr>
          <a:xfrm>
            <a:off x="1245844" y="2742511"/>
            <a:ext cx="13037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F41E142-7F47-4B0A-8C05-1FC1E5FABCE1}"/>
              </a:ext>
            </a:extLst>
          </p:cNvPr>
          <p:cNvCxnSpPr>
            <a:cxnSpLocks/>
          </p:cNvCxnSpPr>
          <p:nvPr/>
        </p:nvCxnSpPr>
        <p:spPr>
          <a:xfrm flipH="1">
            <a:off x="2428240" y="292636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39D9381-FEE2-4FDE-BE4D-ABCA3B06E14C}"/>
              </a:ext>
            </a:extLst>
          </p:cNvPr>
          <p:cNvCxnSpPr>
            <a:cxnSpLocks/>
          </p:cNvCxnSpPr>
          <p:nvPr/>
        </p:nvCxnSpPr>
        <p:spPr>
          <a:xfrm>
            <a:off x="5068097" y="3256872"/>
            <a:ext cx="45366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6CEF683-6353-4015-8A70-9FD60319E2B9}"/>
              </a:ext>
            </a:extLst>
          </p:cNvPr>
          <p:cNvCxnSpPr>
            <a:cxnSpLocks/>
          </p:cNvCxnSpPr>
          <p:nvPr/>
        </p:nvCxnSpPr>
        <p:spPr>
          <a:xfrm>
            <a:off x="5777615" y="2605574"/>
            <a:ext cx="14567" cy="3122780"/>
          </a:xfrm>
          <a:prstGeom prst="straightConnector1">
            <a:avLst/>
          </a:prstGeom>
          <a:ln w="34925">
            <a:solidFill>
              <a:schemeClr val="bg1">
                <a:lumMod val="50000"/>
              </a:schemeClr>
            </a:solidFill>
            <a:prstDash val="solid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451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6CF076-F9B8-4C52-9C0B-A6D6A0C7A0E1}"/>
              </a:ext>
            </a:extLst>
          </p:cNvPr>
          <p:cNvCxnSpPr/>
          <p:nvPr/>
        </p:nvCxnSpPr>
        <p:spPr>
          <a:xfrm>
            <a:off x="2611120" y="5740400"/>
            <a:ext cx="6746240" cy="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94F01C-CFD9-43D9-AB73-B47DDF819AA4}"/>
              </a:ext>
            </a:extLst>
          </p:cNvPr>
          <p:cNvCxnSpPr>
            <a:cxnSpLocks/>
          </p:cNvCxnSpPr>
          <p:nvPr/>
        </p:nvCxnSpPr>
        <p:spPr>
          <a:xfrm flipV="1">
            <a:off x="2600960" y="619760"/>
            <a:ext cx="10160" cy="5120640"/>
          </a:xfrm>
          <a:prstGeom prst="straightConnector1">
            <a:avLst/>
          </a:prstGeom>
          <a:ln w="19050">
            <a:tailEnd type="arrow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6AEFB-CBA0-460A-B86B-87ED6575AFD0}"/>
              </a:ext>
            </a:extLst>
          </p:cNvPr>
          <p:cNvCxnSpPr>
            <a:cxnSpLocks/>
          </p:cNvCxnSpPr>
          <p:nvPr/>
        </p:nvCxnSpPr>
        <p:spPr>
          <a:xfrm flipV="1">
            <a:off x="2590800" y="5092105"/>
            <a:ext cx="4669847" cy="33447"/>
          </a:xfrm>
          <a:prstGeom prst="straightConnector1">
            <a:avLst/>
          </a:prstGeom>
          <a:ln w="19050">
            <a:solidFill>
              <a:srgbClr val="FF0000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912B87-1F33-4632-9F16-DD64F2E6E533}"/>
              </a:ext>
            </a:extLst>
          </p:cNvPr>
          <p:cNvCxnSpPr>
            <a:cxnSpLocks/>
          </p:cNvCxnSpPr>
          <p:nvPr/>
        </p:nvCxnSpPr>
        <p:spPr>
          <a:xfrm>
            <a:off x="2600960" y="1534160"/>
            <a:ext cx="4714240" cy="4206239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51FEC33-1A37-48E6-86FC-365A71B37160}"/>
              </a:ext>
            </a:extLst>
          </p:cNvPr>
          <p:cNvCxnSpPr>
            <a:cxnSpLocks/>
          </p:cNvCxnSpPr>
          <p:nvPr/>
        </p:nvCxnSpPr>
        <p:spPr>
          <a:xfrm>
            <a:off x="2611583" y="1544449"/>
            <a:ext cx="2268859" cy="4183905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315C171-6AB8-4686-BA47-F3896751EB17}"/>
              </a:ext>
            </a:extLst>
          </p:cNvPr>
          <p:cNvSpPr txBox="1"/>
          <p:nvPr/>
        </p:nvSpPr>
        <p:spPr>
          <a:xfrm>
            <a:off x="2722880" y="1267023"/>
            <a:ext cx="1666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Demand = WTP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210F-2411-44DE-8F77-199EE150FC9A}"/>
              </a:ext>
            </a:extLst>
          </p:cNvPr>
          <p:cNvSpPr txBox="1"/>
          <p:nvPr/>
        </p:nvSpPr>
        <p:spPr>
          <a:xfrm>
            <a:off x="7029792" y="4725521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10464-8A43-4CA6-B263-2A055C0F1AA2}"/>
              </a:ext>
            </a:extLst>
          </p:cNvPr>
          <p:cNvSpPr txBox="1"/>
          <p:nvPr/>
        </p:nvSpPr>
        <p:spPr>
          <a:xfrm>
            <a:off x="4274181" y="5373894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106246-DB89-4487-9E67-A2AE83777D66}"/>
              </a:ext>
            </a:extLst>
          </p:cNvPr>
          <p:cNvSpPr txBox="1"/>
          <p:nvPr/>
        </p:nvSpPr>
        <p:spPr>
          <a:xfrm>
            <a:off x="6929583" y="5869038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DDB617-57BD-4DB4-BA9C-142C8B14954F}"/>
              </a:ext>
            </a:extLst>
          </p:cNvPr>
          <p:cNvSpPr txBox="1"/>
          <p:nvPr/>
        </p:nvSpPr>
        <p:spPr>
          <a:xfrm>
            <a:off x="1696720" y="1364883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8,000</a:t>
            </a:r>
            <a:endParaRPr lang="en-US" sz="16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030FFC-8DAB-4F75-B07D-447561054734}"/>
              </a:ext>
            </a:extLst>
          </p:cNvPr>
          <p:cNvCxnSpPr>
            <a:cxnSpLocks/>
          </p:cNvCxnSpPr>
          <p:nvPr/>
        </p:nvCxnSpPr>
        <p:spPr>
          <a:xfrm flipH="1">
            <a:off x="2453640" y="153416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7D7016-4965-4CA0-9415-675607A1CBB3}"/>
              </a:ext>
            </a:extLst>
          </p:cNvPr>
          <p:cNvCxnSpPr>
            <a:cxnSpLocks/>
          </p:cNvCxnSpPr>
          <p:nvPr/>
        </p:nvCxnSpPr>
        <p:spPr>
          <a:xfrm flipV="1">
            <a:off x="7315200" y="5740399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BE6E759E-9FAA-4211-A074-F6B3E4A6BB11}"/>
              </a:ext>
            </a:extLst>
          </p:cNvPr>
          <p:cNvSpPr/>
          <p:nvPr/>
        </p:nvSpPr>
        <p:spPr>
          <a:xfrm>
            <a:off x="7401560" y="988962"/>
            <a:ext cx="121919" cy="128637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0543A1-FD90-44B0-949B-7B9AF34FEF1F}"/>
              </a:ext>
            </a:extLst>
          </p:cNvPr>
          <p:cNvSpPr txBox="1"/>
          <p:nvPr/>
        </p:nvSpPr>
        <p:spPr>
          <a:xfrm>
            <a:off x="7640320" y="884003"/>
            <a:ext cx="428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MR=MC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optimal monopoly quantity if markets were independent</a:t>
            </a:r>
            <a:endParaRPr 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A5F194-6BC9-4896-AE0B-64836442AFFF}"/>
              </a:ext>
            </a:extLst>
          </p:cNvPr>
          <p:cNvSpPr txBox="1"/>
          <p:nvPr/>
        </p:nvSpPr>
        <p:spPr>
          <a:xfrm>
            <a:off x="9315448" y="5752365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US" sz="16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02886-F037-4236-9DBD-742411E2A55D}"/>
              </a:ext>
            </a:extLst>
          </p:cNvPr>
          <p:cNvSpPr txBox="1"/>
          <p:nvPr/>
        </p:nvSpPr>
        <p:spPr>
          <a:xfrm>
            <a:off x="2120902" y="429383"/>
            <a:ext cx="454658" cy="336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78A16D-ABE1-4FFD-A79F-6A9E8FC2DC4C}"/>
              </a:ext>
            </a:extLst>
          </p:cNvPr>
          <p:cNvSpPr txBox="1"/>
          <p:nvPr/>
        </p:nvSpPr>
        <p:spPr>
          <a:xfrm>
            <a:off x="3990342" y="238313"/>
            <a:ext cx="6342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PRIVATELY INSURED &amp; MEDICAID market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B76596-09A5-4D6D-82CC-FBCEA33E2370}"/>
              </a:ext>
            </a:extLst>
          </p:cNvPr>
          <p:cNvSpPr txBox="1"/>
          <p:nvPr/>
        </p:nvSpPr>
        <p:spPr>
          <a:xfrm>
            <a:off x="5652518" y="5837925"/>
            <a:ext cx="18273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</a:p>
          <a:p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78021A1-32E1-4F2F-BF4A-62473469FB2D}"/>
              </a:ext>
            </a:extLst>
          </p:cNvPr>
          <p:cNvCxnSpPr>
            <a:cxnSpLocks/>
          </p:cNvCxnSpPr>
          <p:nvPr/>
        </p:nvCxnSpPr>
        <p:spPr>
          <a:xfrm flipV="1">
            <a:off x="5800962" y="5751357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Left Brace 1">
            <a:extLst>
              <a:ext uri="{FF2B5EF4-FFF2-40B4-BE49-F238E27FC236}">
                <a16:creationId xmlns:a16="http://schemas.microsoft.com/office/drawing/2014/main" id="{53437773-D303-4D4B-859B-8DDE37C1E74C}"/>
              </a:ext>
            </a:extLst>
          </p:cNvPr>
          <p:cNvSpPr/>
          <p:nvPr/>
        </p:nvSpPr>
        <p:spPr>
          <a:xfrm rot="16200000">
            <a:off x="4609509" y="5689852"/>
            <a:ext cx="253119" cy="1605352"/>
          </a:xfrm>
          <a:prstGeom prst="leftBrace">
            <a:avLst>
              <a:gd name="adj1" fmla="val 90178"/>
              <a:gd name="adj2" fmla="val 5000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E09B1D-B0FD-4455-B79C-F47D125FB462}"/>
              </a:ext>
            </a:extLst>
          </p:cNvPr>
          <p:cNvSpPr txBox="1"/>
          <p:nvPr/>
        </p:nvSpPr>
        <p:spPr>
          <a:xfrm>
            <a:off x="3973232" y="6528415"/>
            <a:ext cx="18273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MEDICAID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2,000</a:t>
            </a:r>
            <a:endParaRPr lang="en-US" sz="16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DF7622-ECD7-4336-933B-A83E1F54CF35}"/>
              </a:ext>
            </a:extLst>
          </p:cNvPr>
          <p:cNvSpPr txBox="1"/>
          <p:nvPr/>
        </p:nvSpPr>
        <p:spPr>
          <a:xfrm>
            <a:off x="1767840" y="4936566"/>
            <a:ext cx="894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en-US" sz="16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1DA98A4-9753-4E09-8203-F0137314D1B6}"/>
              </a:ext>
            </a:extLst>
          </p:cNvPr>
          <p:cNvCxnSpPr>
            <a:cxnSpLocks/>
          </p:cNvCxnSpPr>
          <p:nvPr/>
        </p:nvCxnSpPr>
        <p:spPr>
          <a:xfrm flipH="1">
            <a:off x="2394995" y="511092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1CC9-4214-41A4-8E50-860CD8E0AFB0}"/>
              </a:ext>
            </a:extLst>
          </p:cNvPr>
          <p:cNvCxnSpPr>
            <a:cxnSpLocks/>
          </p:cNvCxnSpPr>
          <p:nvPr/>
        </p:nvCxnSpPr>
        <p:spPr>
          <a:xfrm>
            <a:off x="2630117" y="1508221"/>
            <a:ext cx="1325590" cy="2435419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E340F1E-6A3D-4618-9D9F-2FB67409BF11}"/>
              </a:ext>
            </a:extLst>
          </p:cNvPr>
          <p:cNvCxnSpPr>
            <a:cxnSpLocks/>
          </p:cNvCxnSpPr>
          <p:nvPr/>
        </p:nvCxnSpPr>
        <p:spPr>
          <a:xfrm>
            <a:off x="5481996" y="3920854"/>
            <a:ext cx="1330925" cy="1817688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4EDB53C-479B-43D4-B441-86E2B122275D}"/>
              </a:ext>
            </a:extLst>
          </p:cNvPr>
          <p:cNvSpPr txBox="1"/>
          <p:nvPr/>
        </p:nvSpPr>
        <p:spPr>
          <a:xfrm>
            <a:off x="6188847" y="5420577"/>
            <a:ext cx="6908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MR’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06E125E-C8B1-442B-BA7A-039E25CC7881}"/>
              </a:ext>
            </a:extLst>
          </p:cNvPr>
          <p:cNvSpPr/>
          <p:nvPr/>
        </p:nvSpPr>
        <p:spPr>
          <a:xfrm>
            <a:off x="7375232" y="1665688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E040D1-EBA8-4C83-809D-3D44BAE8FB11}"/>
              </a:ext>
            </a:extLst>
          </p:cNvPr>
          <p:cNvSpPr txBox="1"/>
          <p:nvPr/>
        </p:nvSpPr>
        <p:spPr>
          <a:xfrm>
            <a:off x="7823201" y="1519882"/>
            <a:ext cx="42875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WTP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16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2FDAFEF-C330-4F84-BD7F-4C305CDF8419}"/>
              </a:ext>
            </a:extLst>
          </p:cNvPr>
          <p:cNvCxnSpPr>
            <a:cxnSpLocks/>
          </p:cNvCxnSpPr>
          <p:nvPr/>
        </p:nvCxnSpPr>
        <p:spPr>
          <a:xfrm>
            <a:off x="4879627" y="2612225"/>
            <a:ext cx="14567" cy="3122780"/>
          </a:xfrm>
          <a:prstGeom prst="straightConnector1">
            <a:avLst/>
          </a:prstGeom>
          <a:ln w="34925">
            <a:solidFill>
              <a:schemeClr val="bg1">
                <a:lumMod val="50000"/>
                <a:alpha val="44000"/>
              </a:schemeClr>
            </a:solidFill>
            <a:prstDash val="solid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0A40B2-EB05-45DA-8750-EF9F466BC669}"/>
              </a:ext>
            </a:extLst>
          </p:cNvPr>
          <p:cNvCxnSpPr>
            <a:cxnSpLocks/>
          </p:cNvCxnSpPr>
          <p:nvPr/>
        </p:nvCxnSpPr>
        <p:spPr>
          <a:xfrm>
            <a:off x="3963542" y="2712755"/>
            <a:ext cx="1518454" cy="0"/>
          </a:xfrm>
          <a:prstGeom prst="straightConnector1">
            <a:avLst/>
          </a:prstGeom>
          <a:ln w="34925">
            <a:solidFill>
              <a:schemeClr val="bg2">
                <a:lumMod val="75000"/>
              </a:schemeClr>
            </a:solidFill>
            <a:headEnd type="stealth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8E016385-06E0-4638-8700-452A66B0D465}"/>
              </a:ext>
            </a:extLst>
          </p:cNvPr>
          <p:cNvSpPr txBox="1"/>
          <p:nvPr/>
        </p:nvSpPr>
        <p:spPr>
          <a:xfrm>
            <a:off x="4071983" y="1708743"/>
            <a:ext cx="176711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Medicaid patients admitted = 2,000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1C518A-BA5A-4492-A5CD-7E621E02DD03}"/>
              </a:ext>
            </a:extLst>
          </p:cNvPr>
          <p:cNvSpPr txBox="1"/>
          <p:nvPr/>
        </p:nvSpPr>
        <p:spPr>
          <a:xfrm>
            <a:off x="1112809" y="4188733"/>
            <a:ext cx="13105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2,000</a:t>
            </a:r>
            <a:endParaRPr lang="en-US" sz="16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1EF7F27-D857-499B-A116-ACE953D2BC7B}"/>
              </a:ext>
            </a:extLst>
          </p:cNvPr>
          <p:cNvCxnSpPr>
            <a:cxnSpLocks/>
          </p:cNvCxnSpPr>
          <p:nvPr/>
        </p:nvCxnSpPr>
        <p:spPr>
          <a:xfrm>
            <a:off x="2597831" y="4334580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  <a:alpha val="30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C706A2A-7367-4367-8EC0-C52A6E72D260}"/>
              </a:ext>
            </a:extLst>
          </p:cNvPr>
          <p:cNvCxnSpPr>
            <a:cxnSpLocks/>
          </p:cNvCxnSpPr>
          <p:nvPr/>
        </p:nvCxnSpPr>
        <p:spPr>
          <a:xfrm flipH="1">
            <a:off x="2428240" y="4334580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7E376FC6-29A9-481C-B959-7D168DA7532F}"/>
              </a:ext>
            </a:extLst>
          </p:cNvPr>
          <p:cNvSpPr/>
          <p:nvPr/>
        </p:nvSpPr>
        <p:spPr>
          <a:xfrm>
            <a:off x="4036310" y="4210015"/>
            <a:ext cx="182880" cy="182880"/>
          </a:xfrm>
          <a:prstGeom prst="ellipse">
            <a:avLst/>
          </a:prstGeom>
          <a:solidFill>
            <a:srgbClr val="00206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098EEC4-B6B9-4684-A077-583FE56E0289}"/>
              </a:ext>
            </a:extLst>
          </p:cNvPr>
          <p:cNvCxnSpPr>
            <a:cxnSpLocks/>
          </p:cNvCxnSpPr>
          <p:nvPr/>
        </p:nvCxnSpPr>
        <p:spPr>
          <a:xfrm flipV="1">
            <a:off x="4158848" y="4320692"/>
            <a:ext cx="1627224" cy="4149"/>
          </a:xfrm>
          <a:prstGeom prst="line">
            <a:avLst/>
          </a:prstGeom>
          <a:ln w="41275">
            <a:solidFill>
              <a:srgbClr val="7030A0">
                <a:alpha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3028D71-9BC3-42C1-937C-F3EBDC4EA61A}"/>
              </a:ext>
            </a:extLst>
          </p:cNvPr>
          <p:cNvSpPr txBox="1"/>
          <p:nvPr/>
        </p:nvSpPr>
        <p:spPr>
          <a:xfrm>
            <a:off x="3871119" y="5837925"/>
            <a:ext cx="8410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PI, new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3,000</a:t>
            </a:r>
            <a:endParaRPr lang="en-US" sz="1600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300775B-C89F-42D9-8E0A-0C38D1698117}"/>
              </a:ext>
            </a:extLst>
          </p:cNvPr>
          <p:cNvCxnSpPr>
            <a:cxnSpLocks/>
          </p:cNvCxnSpPr>
          <p:nvPr/>
        </p:nvCxnSpPr>
        <p:spPr>
          <a:xfrm flipV="1">
            <a:off x="4165746" y="5732850"/>
            <a:ext cx="0" cy="13208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30AA303-06CF-49E7-B78A-941D3645D899}"/>
              </a:ext>
            </a:extLst>
          </p:cNvPr>
          <p:cNvCxnSpPr>
            <a:cxnSpLocks/>
          </p:cNvCxnSpPr>
          <p:nvPr/>
        </p:nvCxnSpPr>
        <p:spPr>
          <a:xfrm>
            <a:off x="4158848" y="2937164"/>
            <a:ext cx="6898" cy="2797841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CA6F8E6-0B92-4E09-B272-1053B477439C}"/>
              </a:ext>
            </a:extLst>
          </p:cNvPr>
          <p:cNvCxnSpPr>
            <a:cxnSpLocks/>
          </p:cNvCxnSpPr>
          <p:nvPr/>
        </p:nvCxnSpPr>
        <p:spPr>
          <a:xfrm>
            <a:off x="2661920" y="2917715"/>
            <a:ext cx="1506955" cy="661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E7B6632F-53FE-49C0-9902-DCCF16690F20}"/>
              </a:ext>
            </a:extLst>
          </p:cNvPr>
          <p:cNvSpPr txBox="1"/>
          <p:nvPr/>
        </p:nvSpPr>
        <p:spPr>
          <a:xfrm>
            <a:off x="1245844" y="2742511"/>
            <a:ext cx="13037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5,000</a:t>
            </a:r>
            <a:endParaRPr lang="en-US" sz="1600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F41E142-7F47-4B0A-8C05-1FC1E5FABCE1}"/>
              </a:ext>
            </a:extLst>
          </p:cNvPr>
          <p:cNvCxnSpPr>
            <a:cxnSpLocks/>
          </p:cNvCxnSpPr>
          <p:nvPr/>
        </p:nvCxnSpPr>
        <p:spPr>
          <a:xfrm flipH="1">
            <a:off x="2428240" y="2926362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6CEF683-6353-4015-8A70-9FD60319E2B9}"/>
              </a:ext>
            </a:extLst>
          </p:cNvPr>
          <p:cNvCxnSpPr>
            <a:cxnSpLocks/>
          </p:cNvCxnSpPr>
          <p:nvPr/>
        </p:nvCxnSpPr>
        <p:spPr>
          <a:xfrm>
            <a:off x="5777615" y="2605574"/>
            <a:ext cx="14567" cy="3122780"/>
          </a:xfrm>
          <a:prstGeom prst="straightConnector1">
            <a:avLst/>
          </a:prstGeom>
          <a:ln w="34925">
            <a:solidFill>
              <a:schemeClr val="bg1">
                <a:lumMod val="50000"/>
              </a:schemeClr>
            </a:solidFill>
            <a:prstDash val="solid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7267A42-1B7A-4576-BF36-E7012AD4580D}"/>
              </a:ext>
            </a:extLst>
          </p:cNvPr>
          <p:cNvSpPr txBox="1"/>
          <p:nvPr/>
        </p:nvSpPr>
        <p:spPr>
          <a:xfrm>
            <a:off x="1346936" y="3802948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2,500</a:t>
            </a:r>
            <a:endParaRPr lang="en-US" sz="1600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22FBE5-84BB-4840-849A-04D823872FE3}"/>
              </a:ext>
            </a:extLst>
          </p:cNvPr>
          <p:cNvCxnSpPr>
            <a:cxnSpLocks/>
          </p:cNvCxnSpPr>
          <p:nvPr/>
        </p:nvCxnSpPr>
        <p:spPr>
          <a:xfrm flipH="1">
            <a:off x="2443570" y="3949943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41EC1D1-CC65-4683-B52F-C074A4490271}"/>
              </a:ext>
            </a:extLst>
          </p:cNvPr>
          <p:cNvCxnSpPr>
            <a:cxnSpLocks/>
          </p:cNvCxnSpPr>
          <p:nvPr/>
        </p:nvCxnSpPr>
        <p:spPr>
          <a:xfrm>
            <a:off x="2590800" y="3948795"/>
            <a:ext cx="4616282" cy="0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EFFB0D5-B2D4-4B3E-BC71-CC2F4E7FD20E}"/>
              </a:ext>
            </a:extLst>
          </p:cNvPr>
          <p:cNvCxnSpPr>
            <a:cxnSpLocks/>
          </p:cNvCxnSpPr>
          <p:nvPr/>
        </p:nvCxnSpPr>
        <p:spPr>
          <a:xfrm>
            <a:off x="3950370" y="3913625"/>
            <a:ext cx="1571396" cy="0"/>
          </a:xfrm>
          <a:prstGeom prst="line">
            <a:avLst/>
          </a:prstGeom>
          <a:ln w="412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1202D38-45C9-417C-8C1F-55320D28F173}"/>
              </a:ext>
            </a:extLst>
          </p:cNvPr>
          <p:cNvCxnSpPr>
            <a:cxnSpLocks/>
          </p:cNvCxnSpPr>
          <p:nvPr/>
        </p:nvCxnSpPr>
        <p:spPr>
          <a:xfrm>
            <a:off x="3963542" y="3943640"/>
            <a:ext cx="181554" cy="361537"/>
          </a:xfrm>
          <a:prstGeom prst="line">
            <a:avLst/>
          </a:prstGeom>
          <a:ln w="41275">
            <a:solidFill>
              <a:srgbClr val="7030A0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3F5411B-A805-474F-8C5E-017D5CA3405F}"/>
              </a:ext>
            </a:extLst>
          </p:cNvPr>
          <p:cNvCxnSpPr>
            <a:cxnSpLocks/>
          </p:cNvCxnSpPr>
          <p:nvPr/>
        </p:nvCxnSpPr>
        <p:spPr>
          <a:xfrm>
            <a:off x="3934390" y="2713452"/>
            <a:ext cx="0" cy="302155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FF7277F-6289-4852-A194-6D37405CBA2E}"/>
              </a:ext>
            </a:extLst>
          </p:cNvPr>
          <p:cNvCxnSpPr>
            <a:cxnSpLocks/>
          </p:cNvCxnSpPr>
          <p:nvPr/>
        </p:nvCxnSpPr>
        <p:spPr>
          <a:xfrm>
            <a:off x="2611120" y="2712755"/>
            <a:ext cx="1318686" cy="69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FAD094B-ABC6-4984-9D46-52BF33EB5A9A}"/>
              </a:ext>
            </a:extLst>
          </p:cNvPr>
          <p:cNvSpPr txBox="1"/>
          <p:nvPr/>
        </p:nvSpPr>
        <p:spPr>
          <a:xfrm>
            <a:off x="1404655" y="2517083"/>
            <a:ext cx="10693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5,250</a:t>
            </a:r>
            <a:endParaRPr lang="en-US" sz="1600" dirty="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415AFB1-7BEA-48F1-AFA9-690A6FEF13F9}"/>
              </a:ext>
            </a:extLst>
          </p:cNvPr>
          <p:cNvCxnSpPr>
            <a:cxnSpLocks/>
          </p:cNvCxnSpPr>
          <p:nvPr/>
        </p:nvCxnSpPr>
        <p:spPr>
          <a:xfrm flipH="1">
            <a:off x="2411939" y="2712755"/>
            <a:ext cx="182880" cy="0"/>
          </a:xfrm>
          <a:prstGeom prst="straightConnector1">
            <a:avLst/>
          </a:prstGeom>
          <a:ln w="19050">
            <a:solidFill>
              <a:schemeClr val="tx1"/>
            </a:solidFill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AA5EA40-A8F7-4627-B839-877F89E75405}"/>
              </a:ext>
            </a:extLst>
          </p:cNvPr>
          <p:cNvCxnSpPr>
            <a:cxnSpLocks/>
          </p:cNvCxnSpPr>
          <p:nvPr/>
        </p:nvCxnSpPr>
        <p:spPr>
          <a:xfrm>
            <a:off x="5515699" y="2673683"/>
            <a:ext cx="16227" cy="307208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ysDash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52C1A293-3F8A-4D92-B422-FB7F6F054621}"/>
              </a:ext>
            </a:extLst>
          </p:cNvPr>
          <p:cNvSpPr/>
          <p:nvPr/>
        </p:nvSpPr>
        <p:spPr>
          <a:xfrm>
            <a:off x="5373878" y="3592945"/>
            <a:ext cx="615336" cy="934341"/>
          </a:xfrm>
          <a:prstGeom prst="ellipse">
            <a:avLst/>
          </a:prstGeom>
          <a:noFill/>
          <a:ln w="25400">
            <a:solidFill>
              <a:srgbClr val="FF0000">
                <a:alpha val="8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724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887</Words>
  <Application>Microsoft Macintosh PowerPoint</Application>
  <PresentationFormat>Widescreen</PresentationFormat>
  <Paragraphs>380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Pauline Mourot</dc:creator>
  <cp:lastModifiedBy>Mourot, Pauline</cp:lastModifiedBy>
  <cp:revision>43</cp:revision>
  <cp:lastPrinted>2026-03-15T22:57:52Z</cp:lastPrinted>
  <dcterms:created xsi:type="dcterms:W3CDTF">2022-02-11T01:20:33Z</dcterms:created>
  <dcterms:modified xsi:type="dcterms:W3CDTF">2026-03-16T21:54:06Z</dcterms:modified>
</cp:coreProperties>
</file>